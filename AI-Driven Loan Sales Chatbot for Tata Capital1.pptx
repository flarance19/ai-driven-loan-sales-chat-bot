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sldIdLst>
    <p:sldId id="256" r:id="rId2"/>
    <p:sldId id="257" r:id="rId3"/>
    <p:sldId id="258" r:id="rId4"/>
    <p:sldId id="259" r:id="rId5"/>
    <p:sldId id="260" r:id="rId6"/>
    <p:sldId id="261" r:id="rId7"/>
    <p:sldId id="262"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69590F2-0144-4A85-813D-95472ABF210C}" type="doc">
      <dgm:prSet loTypeId="urn:microsoft.com/office/officeart/2005/8/layout/bProcess3" loCatId="process" qsTypeId="urn:microsoft.com/office/officeart/2005/8/quickstyle/simple1" qsCatId="simple" csTypeId="urn:microsoft.com/office/officeart/2005/8/colors/accent1_2" csCatId="accent1" phldr="1"/>
      <dgm:spPr/>
      <dgm:t>
        <a:bodyPr/>
        <a:lstStyle/>
        <a:p>
          <a:endParaRPr lang="en-IN"/>
        </a:p>
      </dgm:t>
    </dgm:pt>
    <dgm:pt modelId="{C8277992-5043-476F-B77D-7DA5A5D1B202}">
      <dgm:prSet phldrT="[Text]" phldr="0"/>
      <dgm:spPr/>
      <dgm:t>
        <a:bodyPr/>
        <a:lstStyle/>
        <a:p>
          <a:r>
            <a:rPr lang="en-US" dirty="0"/>
            <a:t>user</a:t>
          </a:r>
          <a:endParaRPr lang="en-IN" dirty="0"/>
        </a:p>
      </dgm:t>
    </dgm:pt>
    <dgm:pt modelId="{F4EC6D7F-3CFA-4990-8DCF-69282D9CD712}" type="parTrans" cxnId="{58363E34-189F-4E37-AC13-49B215C8AF16}">
      <dgm:prSet/>
      <dgm:spPr/>
      <dgm:t>
        <a:bodyPr/>
        <a:lstStyle/>
        <a:p>
          <a:endParaRPr lang="en-IN"/>
        </a:p>
      </dgm:t>
    </dgm:pt>
    <dgm:pt modelId="{A81C9033-F34D-4258-B98A-4C9157330E7F}" type="sibTrans" cxnId="{58363E34-189F-4E37-AC13-49B215C8AF16}">
      <dgm:prSet/>
      <dgm:spPr/>
      <dgm:t>
        <a:bodyPr/>
        <a:lstStyle/>
        <a:p>
          <a:endParaRPr lang="en-IN"/>
        </a:p>
      </dgm:t>
    </dgm:pt>
    <dgm:pt modelId="{FE50FC44-276D-484C-9481-A437FFA11A8A}">
      <dgm:prSet phldrT="[Text]" phldr="0"/>
      <dgm:spPr/>
      <dgm:t>
        <a:bodyPr/>
        <a:lstStyle/>
        <a:p>
          <a:r>
            <a:rPr lang="en-US" dirty="0"/>
            <a:t>chatbot</a:t>
          </a:r>
          <a:endParaRPr lang="en-IN" dirty="0"/>
        </a:p>
      </dgm:t>
    </dgm:pt>
    <dgm:pt modelId="{80D58F66-65C1-40C7-95A2-174E5637853C}" type="parTrans" cxnId="{42A76A14-DC54-4D5D-B92F-D34BF34CBC79}">
      <dgm:prSet/>
      <dgm:spPr/>
      <dgm:t>
        <a:bodyPr/>
        <a:lstStyle/>
        <a:p>
          <a:endParaRPr lang="en-IN"/>
        </a:p>
      </dgm:t>
    </dgm:pt>
    <dgm:pt modelId="{24CEB576-9FDA-427E-94AF-955E7AF8BB45}" type="sibTrans" cxnId="{42A76A14-DC54-4D5D-B92F-D34BF34CBC79}">
      <dgm:prSet/>
      <dgm:spPr/>
      <dgm:t>
        <a:bodyPr/>
        <a:lstStyle/>
        <a:p>
          <a:endParaRPr lang="en-IN"/>
        </a:p>
      </dgm:t>
    </dgm:pt>
    <dgm:pt modelId="{A2B714FA-CC14-4645-B8B8-C4D866878DE2}">
      <dgm:prSet phldrT="[Text]" phldr="0"/>
      <dgm:spPr/>
      <dgm:t>
        <a:bodyPr/>
        <a:lstStyle/>
        <a:p>
          <a:r>
            <a:rPr lang="en-US" dirty="0"/>
            <a:t>verification</a:t>
          </a:r>
          <a:endParaRPr lang="en-IN" dirty="0"/>
        </a:p>
      </dgm:t>
    </dgm:pt>
    <dgm:pt modelId="{C4BC8EE0-33E6-4D0E-B2C7-0CCDC7C286E4}" type="parTrans" cxnId="{42CC5826-967B-4CD3-8DEE-B4763AAB4D37}">
      <dgm:prSet/>
      <dgm:spPr/>
      <dgm:t>
        <a:bodyPr/>
        <a:lstStyle/>
        <a:p>
          <a:endParaRPr lang="en-IN"/>
        </a:p>
      </dgm:t>
    </dgm:pt>
    <dgm:pt modelId="{9E07EF96-457D-42DB-98CD-8884E50D02FF}" type="sibTrans" cxnId="{42CC5826-967B-4CD3-8DEE-B4763AAB4D37}">
      <dgm:prSet/>
      <dgm:spPr/>
      <dgm:t>
        <a:bodyPr/>
        <a:lstStyle/>
        <a:p>
          <a:endParaRPr lang="en-IN"/>
        </a:p>
      </dgm:t>
    </dgm:pt>
    <dgm:pt modelId="{B35C2B71-B8D2-4BBE-8DE0-B17010C31CBA}">
      <dgm:prSet phldrT="[Text]" phldr="0"/>
      <dgm:spPr/>
      <dgm:t>
        <a:bodyPr/>
        <a:lstStyle/>
        <a:p>
          <a:r>
            <a:rPr lang="en-US" dirty="0"/>
            <a:t>decision</a:t>
          </a:r>
          <a:endParaRPr lang="en-IN" dirty="0"/>
        </a:p>
      </dgm:t>
    </dgm:pt>
    <dgm:pt modelId="{D61A9DE3-D566-468A-95E2-092FFF31384A}" type="parTrans" cxnId="{B0CEF540-ED2E-4D97-AC12-0F7F777164A0}">
      <dgm:prSet/>
      <dgm:spPr/>
      <dgm:t>
        <a:bodyPr/>
        <a:lstStyle/>
        <a:p>
          <a:endParaRPr lang="en-IN"/>
        </a:p>
      </dgm:t>
    </dgm:pt>
    <dgm:pt modelId="{DD3A33CA-29C4-4D7A-BEDB-8D77925C5A4B}" type="sibTrans" cxnId="{B0CEF540-ED2E-4D97-AC12-0F7F777164A0}">
      <dgm:prSet/>
      <dgm:spPr/>
      <dgm:t>
        <a:bodyPr/>
        <a:lstStyle/>
        <a:p>
          <a:endParaRPr lang="en-IN"/>
        </a:p>
      </dgm:t>
    </dgm:pt>
    <dgm:pt modelId="{DDDB33D1-7DE7-4C28-8777-9F1BEBC396DC}">
      <dgm:prSet phldrT="[Text]" phldr="0"/>
      <dgm:spPr/>
      <dgm:t>
        <a:bodyPr/>
        <a:lstStyle/>
        <a:p>
          <a:r>
            <a:rPr lang="en-US" dirty="0"/>
            <a:t>letter</a:t>
          </a:r>
          <a:endParaRPr lang="en-IN" dirty="0"/>
        </a:p>
      </dgm:t>
    </dgm:pt>
    <dgm:pt modelId="{77CDFA2F-9268-4A10-BD19-802D0CA1EFEB}" type="parTrans" cxnId="{414288A0-9504-4427-8A9D-FEE8A8E5678C}">
      <dgm:prSet/>
      <dgm:spPr/>
      <dgm:t>
        <a:bodyPr/>
        <a:lstStyle/>
        <a:p>
          <a:endParaRPr lang="en-IN"/>
        </a:p>
      </dgm:t>
    </dgm:pt>
    <dgm:pt modelId="{4F42D281-41C3-4597-A13E-8BD17793EEAD}" type="sibTrans" cxnId="{414288A0-9504-4427-8A9D-FEE8A8E5678C}">
      <dgm:prSet/>
      <dgm:spPr/>
      <dgm:t>
        <a:bodyPr/>
        <a:lstStyle/>
        <a:p>
          <a:endParaRPr lang="en-IN"/>
        </a:p>
      </dgm:t>
    </dgm:pt>
    <dgm:pt modelId="{ACFC7B4E-CB3A-4CBA-A917-FA281393A867}" type="pres">
      <dgm:prSet presAssocID="{269590F2-0144-4A85-813D-95472ABF210C}" presName="Name0" presStyleCnt="0">
        <dgm:presLayoutVars>
          <dgm:dir/>
          <dgm:resizeHandles val="exact"/>
        </dgm:presLayoutVars>
      </dgm:prSet>
      <dgm:spPr/>
    </dgm:pt>
    <dgm:pt modelId="{7A2AC0DE-0007-41EB-ADB7-E1607E946A17}" type="pres">
      <dgm:prSet presAssocID="{C8277992-5043-476F-B77D-7DA5A5D1B202}" presName="node" presStyleLbl="node1" presStyleIdx="0" presStyleCnt="5">
        <dgm:presLayoutVars>
          <dgm:bulletEnabled val="1"/>
        </dgm:presLayoutVars>
      </dgm:prSet>
      <dgm:spPr/>
    </dgm:pt>
    <dgm:pt modelId="{D0577E9F-3629-4715-8FDF-53631838B8DB}" type="pres">
      <dgm:prSet presAssocID="{A81C9033-F34D-4258-B98A-4C9157330E7F}" presName="sibTrans" presStyleLbl="sibTrans1D1" presStyleIdx="0" presStyleCnt="4"/>
      <dgm:spPr/>
    </dgm:pt>
    <dgm:pt modelId="{AB835533-1841-420D-8CDD-C88EB856CD8D}" type="pres">
      <dgm:prSet presAssocID="{A81C9033-F34D-4258-B98A-4C9157330E7F}" presName="connectorText" presStyleLbl="sibTrans1D1" presStyleIdx="0" presStyleCnt="4"/>
      <dgm:spPr/>
    </dgm:pt>
    <dgm:pt modelId="{7165F932-3A0B-40C4-85EA-B63644D8275B}" type="pres">
      <dgm:prSet presAssocID="{FE50FC44-276D-484C-9481-A437FFA11A8A}" presName="node" presStyleLbl="node1" presStyleIdx="1" presStyleCnt="5">
        <dgm:presLayoutVars>
          <dgm:bulletEnabled val="1"/>
        </dgm:presLayoutVars>
      </dgm:prSet>
      <dgm:spPr/>
    </dgm:pt>
    <dgm:pt modelId="{30E2174B-E74C-4753-BC21-C1A5CA98C61F}" type="pres">
      <dgm:prSet presAssocID="{24CEB576-9FDA-427E-94AF-955E7AF8BB45}" presName="sibTrans" presStyleLbl="sibTrans1D1" presStyleIdx="1" presStyleCnt="4"/>
      <dgm:spPr/>
    </dgm:pt>
    <dgm:pt modelId="{7DDFC02C-3F82-4CD4-BAAB-13A95C084069}" type="pres">
      <dgm:prSet presAssocID="{24CEB576-9FDA-427E-94AF-955E7AF8BB45}" presName="connectorText" presStyleLbl="sibTrans1D1" presStyleIdx="1" presStyleCnt="4"/>
      <dgm:spPr/>
    </dgm:pt>
    <dgm:pt modelId="{4392D956-3851-4343-BAE0-4FA11506D6A7}" type="pres">
      <dgm:prSet presAssocID="{A2B714FA-CC14-4645-B8B8-C4D866878DE2}" presName="node" presStyleLbl="node1" presStyleIdx="2" presStyleCnt="5">
        <dgm:presLayoutVars>
          <dgm:bulletEnabled val="1"/>
        </dgm:presLayoutVars>
      </dgm:prSet>
      <dgm:spPr/>
    </dgm:pt>
    <dgm:pt modelId="{C1EE378D-27F6-4825-889C-12AF0210C29B}" type="pres">
      <dgm:prSet presAssocID="{9E07EF96-457D-42DB-98CD-8884E50D02FF}" presName="sibTrans" presStyleLbl="sibTrans1D1" presStyleIdx="2" presStyleCnt="4"/>
      <dgm:spPr/>
    </dgm:pt>
    <dgm:pt modelId="{D31CCDF2-0F8A-4AB9-B281-57542F9D3A32}" type="pres">
      <dgm:prSet presAssocID="{9E07EF96-457D-42DB-98CD-8884E50D02FF}" presName="connectorText" presStyleLbl="sibTrans1D1" presStyleIdx="2" presStyleCnt="4"/>
      <dgm:spPr/>
    </dgm:pt>
    <dgm:pt modelId="{CF02A562-5152-488A-9642-CD00A6460823}" type="pres">
      <dgm:prSet presAssocID="{B35C2B71-B8D2-4BBE-8DE0-B17010C31CBA}" presName="node" presStyleLbl="node1" presStyleIdx="3" presStyleCnt="5">
        <dgm:presLayoutVars>
          <dgm:bulletEnabled val="1"/>
        </dgm:presLayoutVars>
      </dgm:prSet>
      <dgm:spPr/>
    </dgm:pt>
    <dgm:pt modelId="{EAD35BF8-72A5-4D3E-8CC5-77E12DE94BE0}" type="pres">
      <dgm:prSet presAssocID="{DD3A33CA-29C4-4D7A-BEDB-8D77925C5A4B}" presName="sibTrans" presStyleLbl="sibTrans1D1" presStyleIdx="3" presStyleCnt="4"/>
      <dgm:spPr/>
    </dgm:pt>
    <dgm:pt modelId="{38790574-FF54-4B34-A12E-DA46D298FF05}" type="pres">
      <dgm:prSet presAssocID="{DD3A33CA-29C4-4D7A-BEDB-8D77925C5A4B}" presName="connectorText" presStyleLbl="sibTrans1D1" presStyleIdx="3" presStyleCnt="4"/>
      <dgm:spPr/>
    </dgm:pt>
    <dgm:pt modelId="{9E9E5020-427E-4547-906E-DC8639FAFEE8}" type="pres">
      <dgm:prSet presAssocID="{DDDB33D1-7DE7-4C28-8777-9F1BEBC396DC}" presName="node" presStyleLbl="node1" presStyleIdx="4" presStyleCnt="5">
        <dgm:presLayoutVars>
          <dgm:bulletEnabled val="1"/>
        </dgm:presLayoutVars>
      </dgm:prSet>
      <dgm:spPr/>
    </dgm:pt>
  </dgm:ptLst>
  <dgm:cxnLst>
    <dgm:cxn modelId="{82261407-72D6-4A71-BD12-8B6DD3DB7898}" type="presOf" srcId="{C8277992-5043-476F-B77D-7DA5A5D1B202}" destId="{7A2AC0DE-0007-41EB-ADB7-E1607E946A17}" srcOrd="0" destOrd="0" presId="urn:microsoft.com/office/officeart/2005/8/layout/bProcess3"/>
    <dgm:cxn modelId="{42A76A14-DC54-4D5D-B92F-D34BF34CBC79}" srcId="{269590F2-0144-4A85-813D-95472ABF210C}" destId="{FE50FC44-276D-484C-9481-A437FFA11A8A}" srcOrd="1" destOrd="0" parTransId="{80D58F66-65C1-40C7-95A2-174E5637853C}" sibTransId="{24CEB576-9FDA-427E-94AF-955E7AF8BB45}"/>
    <dgm:cxn modelId="{17592F23-18FB-43A0-9B86-4F73389A4889}" type="presOf" srcId="{A81C9033-F34D-4258-B98A-4C9157330E7F}" destId="{D0577E9F-3629-4715-8FDF-53631838B8DB}" srcOrd="0" destOrd="0" presId="urn:microsoft.com/office/officeart/2005/8/layout/bProcess3"/>
    <dgm:cxn modelId="{42CC5826-967B-4CD3-8DEE-B4763AAB4D37}" srcId="{269590F2-0144-4A85-813D-95472ABF210C}" destId="{A2B714FA-CC14-4645-B8B8-C4D866878DE2}" srcOrd="2" destOrd="0" parTransId="{C4BC8EE0-33E6-4D0E-B2C7-0CCDC7C286E4}" sibTransId="{9E07EF96-457D-42DB-98CD-8884E50D02FF}"/>
    <dgm:cxn modelId="{58363E34-189F-4E37-AC13-49B215C8AF16}" srcId="{269590F2-0144-4A85-813D-95472ABF210C}" destId="{C8277992-5043-476F-B77D-7DA5A5D1B202}" srcOrd="0" destOrd="0" parTransId="{F4EC6D7F-3CFA-4990-8DCF-69282D9CD712}" sibTransId="{A81C9033-F34D-4258-B98A-4C9157330E7F}"/>
    <dgm:cxn modelId="{A1736B37-8220-47F3-817B-43E53C78B2C7}" type="presOf" srcId="{24CEB576-9FDA-427E-94AF-955E7AF8BB45}" destId="{30E2174B-E74C-4753-BC21-C1A5CA98C61F}" srcOrd="0" destOrd="0" presId="urn:microsoft.com/office/officeart/2005/8/layout/bProcess3"/>
    <dgm:cxn modelId="{B0CEF540-ED2E-4D97-AC12-0F7F777164A0}" srcId="{269590F2-0144-4A85-813D-95472ABF210C}" destId="{B35C2B71-B8D2-4BBE-8DE0-B17010C31CBA}" srcOrd="3" destOrd="0" parTransId="{D61A9DE3-D566-468A-95E2-092FFF31384A}" sibTransId="{DD3A33CA-29C4-4D7A-BEDB-8D77925C5A4B}"/>
    <dgm:cxn modelId="{7F7E2D69-203C-45A0-95DA-A86D15545F2E}" type="presOf" srcId="{DDDB33D1-7DE7-4C28-8777-9F1BEBC396DC}" destId="{9E9E5020-427E-4547-906E-DC8639FAFEE8}" srcOrd="0" destOrd="0" presId="urn:microsoft.com/office/officeart/2005/8/layout/bProcess3"/>
    <dgm:cxn modelId="{7D638B7A-8669-48F5-A153-E3AE64092407}" type="presOf" srcId="{A2B714FA-CC14-4645-B8B8-C4D866878DE2}" destId="{4392D956-3851-4343-BAE0-4FA11506D6A7}" srcOrd="0" destOrd="0" presId="urn:microsoft.com/office/officeart/2005/8/layout/bProcess3"/>
    <dgm:cxn modelId="{414288A0-9504-4427-8A9D-FEE8A8E5678C}" srcId="{269590F2-0144-4A85-813D-95472ABF210C}" destId="{DDDB33D1-7DE7-4C28-8777-9F1BEBC396DC}" srcOrd="4" destOrd="0" parTransId="{77CDFA2F-9268-4A10-BD19-802D0CA1EFEB}" sibTransId="{4F42D281-41C3-4597-A13E-8BD17793EEAD}"/>
    <dgm:cxn modelId="{FBEEDCA2-42E2-4514-B2E7-8EBAA55ED03C}" type="presOf" srcId="{9E07EF96-457D-42DB-98CD-8884E50D02FF}" destId="{C1EE378D-27F6-4825-889C-12AF0210C29B}" srcOrd="0" destOrd="0" presId="urn:microsoft.com/office/officeart/2005/8/layout/bProcess3"/>
    <dgm:cxn modelId="{1D755EA9-CA9C-4E89-9A5D-CD394C885E69}" type="presOf" srcId="{9E07EF96-457D-42DB-98CD-8884E50D02FF}" destId="{D31CCDF2-0F8A-4AB9-B281-57542F9D3A32}" srcOrd="1" destOrd="0" presId="urn:microsoft.com/office/officeart/2005/8/layout/bProcess3"/>
    <dgm:cxn modelId="{635B08AC-702D-43CB-95FC-3F1302708AD7}" type="presOf" srcId="{B35C2B71-B8D2-4BBE-8DE0-B17010C31CBA}" destId="{CF02A562-5152-488A-9642-CD00A6460823}" srcOrd="0" destOrd="0" presId="urn:microsoft.com/office/officeart/2005/8/layout/bProcess3"/>
    <dgm:cxn modelId="{B0E46CAC-23A2-450A-BFA9-2CAA4508FC45}" type="presOf" srcId="{269590F2-0144-4A85-813D-95472ABF210C}" destId="{ACFC7B4E-CB3A-4CBA-A917-FA281393A867}" srcOrd="0" destOrd="0" presId="urn:microsoft.com/office/officeart/2005/8/layout/bProcess3"/>
    <dgm:cxn modelId="{DE05EBC1-A1C3-488C-8C64-D5742000A136}" type="presOf" srcId="{DD3A33CA-29C4-4D7A-BEDB-8D77925C5A4B}" destId="{38790574-FF54-4B34-A12E-DA46D298FF05}" srcOrd="1" destOrd="0" presId="urn:microsoft.com/office/officeart/2005/8/layout/bProcess3"/>
    <dgm:cxn modelId="{144D42DD-D861-41BB-8C66-70F12AC563CF}" type="presOf" srcId="{FE50FC44-276D-484C-9481-A437FFA11A8A}" destId="{7165F932-3A0B-40C4-85EA-B63644D8275B}" srcOrd="0" destOrd="0" presId="urn:microsoft.com/office/officeart/2005/8/layout/bProcess3"/>
    <dgm:cxn modelId="{71679DE1-1E68-4E5A-964E-EE2A4411B8B5}" type="presOf" srcId="{24CEB576-9FDA-427E-94AF-955E7AF8BB45}" destId="{7DDFC02C-3F82-4CD4-BAAB-13A95C084069}" srcOrd="1" destOrd="0" presId="urn:microsoft.com/office/officeart/2005/8/layout/bProcess3"/>
    <dgm:cxn modelId="{EE062DE4-B069-422C-AB93-9611C1816A17}" type="presOf" srcId="{A81C9033-F34D-4258-B98A-4C9157330E7F}" destId="{AB835533-1841-420D-8CDD-C88EB856CD8D}" srcOrd="1" destOrd="0" presId="urn:microsoft.com/office/officeart/2005/8/layout/bProcess3"/>
    <dgm:cxn modelId="{FEF990FB-FD94-4550-ABDB-C1B50BE8A678}" type="presOf" srcId="{DD3A33CA-29C4-4D7A-BEDB-8D77925C5A4B}" destId="{EAD35BF8-72A5-4D3E-8CC5-77E12DE94BE0}" srcOrd="0" destOrd="0" presId="urn:microsoft.com/office/officeart/2005/8/layout/bProcess3"/>
    <dgm:cxn modelId="{E74BF048-0422-4E1D-B917-18510600E6C0}" type="presParOf" srcId="{ACFC7B4E-CB3A-4CBA-A917-FA281393A867}" destId="{7A2AC0DE-0007-41EB-ADB7-E1607E946A17}" srcOrd="0" destOrd="0" presId="urn:microsoft.com/office/officeart/2005/8/layout/bProcess3"/>
    <dgm:cxn modelId="{D53C1898-38DE-4BE4-A85A-FFFE8BB3F87F}" type="presParOf" srcId="{ACFC7B4E-CB3A-4CBA-A917-FA281393A867}" destId="{D0577E9F-3629-4715-8FDF-53631838B8DB}" srcOrd="1" destOrd="0" presId="urn:microsoft.com/office/officeart/2005/8/layout/bProcess3"/>
    <dgm:cxn modelId="{25267649-26F7-4E1E-9F0A-E1EC4DD50BFA}" type="presParOf" srcId="{D0577E9F-3629-4715-8FDF-53631838B8DB}" destId="{AB835533-1841-420D-8CDD-C88EB856CD8D}" srcOrd="0" destOrd="0" presId="urn:microsoft.com/office/officeart/2005/8/layout/bProcess3"/>
    <dgm:cxn modelId="{D02C53D6-9582-499A-9C23-F819BCE0D21F}" type="presParOf" srcId="{ACFC7B4E-CB3A-4CBA-A917-FA281393A867}" destId="{7165F932-3A0B-40C4-85EA-B63644D8275B}" srcOrd="2" destOrd="0" presId="urn:microsoft.com/office/officeart/2005/8/layout/bProcess3"/>
    <dgm:cxn modelId="{70212478-8A4F-4157-8FCF-2D6750A5542B}" type="presParOf" srcId="{ACFC7B4E-CB3A-4CBA-A917-FA281393A867}" destId="{30E2174B-E74C-4753-BC21-C1A5CA98C61F}" srcOrd="3" destOrd="0" presId="urn:microsoft.com/office/officeart/2005/8/layout/bProcess3"/>
    <dgm:cxn modelId="{57B1109E-3AA9-40D5-99F9-53AEB92F4916}" type="presParOf" srcId="{30E2174B-E74C-4753-BC21-C1A5CA98C61F}" destId="{7DDFC02C-3F82-4CD4-BAAB-13A95C084069}" srcOrd="0" destOrd="0" presId="urn:microsoft.com/office/officeart/2005/8/layout/bProcess3"/>
    <dgm:cxn modelId="{F4CD6686-88EE-4FCB-B685-4F1DCDCBB88D}" type="presParOf" srcId="{ACFC7B4E-CB3A-4CBA-A917-FA281393A867}" destId="{4392D956-3851-4343-BAE0-4FA11506D6A7}" srcOrd="4" destOrd="0" presId="urn:microsoft.com/office/officeart/2005/8/layout/bProcess3"/>
    <dgm:cxn modelId="{55202964-4B48-4B3C-AA4C-3925BD8D2EB1}" type="presParOf" srcId="{ACFC7B4E-CB3A-4CBA-A917-FA281393A867}" destId="{C1EE378D-27F6-4825-889C-12AF0210C29B}" srcOrd="5" destOrd="0" presId="urn:microsoft.com/office/officeart/2005/8/layout/bProcess3"/>
    <dgm:cxn modelId="{FA1F2BA8-3E14-4D67-BC12-088AE8FF27CB}" type="presParOf" srcId="{C1EE378D-27F6-4825-889C-12AF0210C29B}" destId="{D31CCDF2-0F8A-4AB9-B281-57542F9D3A32}" srcOrd="0" destOrd="0" presId="urn:microsoft.com/office/officeart/2005/8/layout/bProcess3"/>
    <dgm:cxn modelId="{286271ED-2C93-4003-9306-7688B5A44D1F}" type="presParOf" srcId="{ACFC7B4E-CB3A-4CBA-A917-FA281393A867}" destId="{CF02A562-5152-488A-9642-CD00A6460823}" srcOrd="6" destOrd="0" presId="urn:microsoft.com/office/officeart/2005/8/layout/bProcess3"/>
    <dgm:cxn modelId="{28314472-9EAE-4CFB-A168-45E925B7E9BF}" type="presParOf" srcId="{ACFC7B4E-CB3A-4CBA-A917-FA281393A867}" destId="{EAD35BF8-72A5-4D3E-8CC5-77E12DE94BE0}" srcOrd="7" destOrd="0" presId="urn:microsoft.com/office/officeart/2005/8/layout/bProcess3"/>
    <dgm:cxn modelId="{4BBC76B9-4D0B-484F-A155-9BE99CA69A48}" type="presParOf" srcId="{EAD35BF8-72A5-4D3E-8CC5-77E12DE94BE0}" destId="{38790574-FF54-4B34-A12E-DA46D298FF05}" srcOrd="0" destOrd="0" presId="urn:microsoft.com/office/officeart/2005/8/layout/bProcess3"/>
    <dgm:cxn modelId="{56276945-2997-4178-83C1-DB70456762FC}" type="presParOf" srcId="{ACFC7B4E-CB3A-4CBA-A917-FA281393A867}" destId="{9E9E5020-427E-4547-906E-DC8639FAFEE8}" srcOrd="8" destOrd="0" presId="urn:microsoft.com/office/officeart/2005/8/layout/b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577E9F-3629-4715-8FDF-53631838B8DB}">
      <dsp:nvSpPr>
        <dsp:cNvPr id="0" name=""/>
        <dsp:cNvSpPr/>
      </dsp:nvSpPr>
      <dsp:spPr>
        <a:xfrm>
          <a:off x="3786530" y="673999"/>
          <a:ext cx="520738" cy="91440"/>
        </a:xfrm>
        <a:custGeom>
          <a:avLst/>
          <a:gdLst/>
          <a:ahLst/>
          <a:cxnLst/>
          <a:rect l="0" t="0" r="0" b="0"/>
          <a:pathLst>
            <a:path>
              <a:moveTo>
                <a:pt x="0" y="45720"/>
              </a:moveTo>
              <a:lnTo>
                <a:pt x="520738" y="45720"/>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4033116" y="716963"/>
        <a:ext cx="27566" cy="5513"/>
      </dsp:txXfrm>
    </dsp:sp>
    <dsp:sp modelId="{7A2AC0DE-0007-41EB-ADB7-E1607E946A17}">
      <dsp:nvSpPr>
        <dsp:cNvPr id="0" name=""/>
        <dsp:cNvSpPr/>
      </dsp:nvSpPr>
      <dsp:spPr>
        <a:xfrm>
          <a:off x="1391205" y="582"/>
          <a:ext cx="2397125" cy="143827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dirty="0"/>
            <a:t>user</a:t>
          </a:r>
          <a:endParaRPr lang="en-IN" sz="2900" kern="1200" dirty="0"/>
        </a:p>
      </dsp:txBody>
      <dsp:txXfrm>
        <a:off x="1391205" y="582"/>
        <a:ext cx="2397125" cy="1438275"/>
      </dsp:txXfrm>
    </dsp:sp>
    <dsp:sp modelId="{30E2174B-E74C-4753-BC21-C1A5CA98C61F}">
      <dsp:nvSpPr>
        <dsp:cNvPr id="0" name=""/>
        <dsp:cNvSpPr/>
      </dsp:nvSpPr>
      <dsp:spPr>
        <a:xfrm>
          <a:off x="2589768" y="1437057"/>
          <a:ext cx="2948463" cy="520738"/>
        </a:xfrm>
        <a:custGeom>
          <a:avLst/>
          <a:gdLst/>
          <a:ahLst/>
          <a:cxnLst/>
          <a:rect l="0" t="0" r="0" b="0"/>
          <a:pathLst>
            <a:path>
              <a:moveTo>
                <a:pt x="2948463" y="0"/>
              </a:moveTo>
              <a:lnTo>
                <a:pt x="2948463" y="277469"/>
              </a:lnTo>
              <a:lnTo>
                <a:pt x="0" y="277469"/>
              </a:lnTo>
              <a:lnTo>
                <a:pt x="0" y="520738"/>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989010" y="1694669"/>
        <a:ext cx="149978" cy="5513"/>
      </dsp:txXfrm>
    </dsp:sp>
    <dsp:sp modelId="{7165F932-3A0B-40C4-85EA-B63644D8275B}">
      <dsp:nvSpPr>
        <dsp:cNvPr id="0" name=""/>
        <dsp:cNvSpPr/>
      </dsp:nvSpPr>
      <dsp:spPr>
        <a:xfrm>
          <a:off x="4339669" y="582"/>
          <a:ext cx="2397125" cy="143827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dirty="0"/>
            <a:t>chatbot</a:t>
          </a:r>
          <a:endParaRPr lang="en-IN" sz="2900" kern="1200" dirty="0"/>
        </a:p>
      </dsp:txBody>
      <dsp:txXfrm>
        <a:off x="4339669" y="582"/>
        <a:ext cx="2397125" cy="1438275"/>
      </dsp:txXfrm>
    </dsp:sp>
    <dsp:sp modelId="{C1EE378D-27F6-4825-889C-12AF0210C29B}">
      <dsp:nvSpPr>
        <dsp:cNvPr id="0" name=""/>
        <dsp:cNvSpPr/>
      </dsp:nvSpPr>
      <dsp:spPr>
        <a:xfrm>
          <a:off x="3786530" y="2663613"/>
          <a:ext cx="520738" cy="91440"/>
        </a:xfrm>
        <a:custGeom>
          <a:avLst/>
          <a:gdLst/>
          <a:ahLst/>
          <a:cxnLst/>
          <a:rect l="0" t="0" r="0" b="0"/>
          <a:pathLst>
            <a:path>
              <a:moveTo>
                <a:pt x="0" y="45720"/>
              </a:moveTo>
              <a:lnTo>
                <a:pt x="520738" y="45720"/>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4033116" y="2706576"/>
        <a:ext cx="27566" cy="5513"/>
      </dsp:txXfrm>
    </dsp:sp>
    <dsp:sp modelId="{4392D956-3851-4343-BAE0-4FA11506D6A7}">
      <dsp:nvSpPr>
        <dsp:cNvPr id="0" name=""/>
        <dsp:cNvSpPr/>
      </dsp:nvSpPr>
      <dsp:spPr>
        <a:xfrm>
          <a:off x="1391205" y="1990196"/>
          <a:ext cx="2397125" cy="143827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dirty="0"/>
            <a:t>verification</a:t>
          </a:r>
          <a:endParaRPr lang="en-IN" sz="2900" kern="1200" dirty="0"/>
        </a:p>
      </dsp:txBody>
      <dsp:txXfrm>
        <a:off x="1391205" y="1990196"/>
        <a:ext cx="2397125" cy="1438275"/>
      </dsp:txXfrm>
    </dsp:sp>
    <dsp:sp modelId="{EAD35BF8-72A5-4D3E-8CC5-77E12DE94BE0}">
      <dsp:nvSpPr>
        <dsp:cNvPr id="0" name=""/>
        <dsp:cNvSpPr/>
      </dsp:nvSpPr>
      <dsp:spPr>
        <a:xfrm>
          <a:off x="2589768" y="3426671"/>
          <a:ext cx="2948463" cy="520738"/>
        </a:xfrm>
        <a:custGeom>
          <a:avLst/>
          <a:gdLst/>
          <a:ahLst/>
          <a:cxnLst/>
          <a:rect l="0" t="0" r="0" b="0"/>
          <a:pathLst>
            <a:path>
              <a:moveTo>
                <a:pt x="2948463" y="0"/>
              </a:moveTo>
              <a:lnTo>
                <a:pt x="2948463" y="277469"/>
              </a:lnTo>
              <a:lnTo>
                <a:pt x="0" y="277469"/>
              </a:lnTo>
              <a:lnTo>
                <a:pt x="0" y="520738"/>
              </a:lnTo>
            </a:path>
          </a:pathLst>
        </a:custGeom>
        <a:noFill/>
        <a:ln w="9525" cap="rnd" cmpd="sng" algn="ctr">
          <a:solidFill>
            <a:schemeClr val="accent1">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3989010" y="3684283"/>
        <a:ext cx="149978" cy="5513"/>
      </dsp:txXfrm>
    </dsp:sp>
    <dsp:sp modelId="{CF02A562-5152-488A-9642-CD00A6460823}">
      <dsp:nvSpPr>
        <dsp:cNvPr id="0" name=""/>
        <dsp:cNvSpPr/>
      </dsp:nvSpPr>
      <dsp:spPr>
        <a:xfrm>
          <a:off x="4339669" y="1990196"/>
          <a:ext cx="2397125" cy="143827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dirty="0"/>
            <a:t>decision</a:t>
          </a:r>
          <a:endParaRPr lang="en-IN" sz="2900" kern="1200" dirty="0"/>
        </a:p>
      </dsp:txBody>
      <dsp:txXfrm>
        <a:off x="4339669" y="1990196"/>
        <a:ext cx="2397125" cy="1438275"/>
      </dsp:txXfrm>
    </dsp:sp>
    <dsp:sp modelId="{9E9E5020-427E-4547-906E-DC8639FAFEE8}">
      <dsp:nvSpPr>
        <dsp:cNvPr id="0" name=""/>
        <dsp:cNvSpPr/>
      </dsp:nvSpPr>
      <dsp:spPr>
        <a:xfrm>
          <a:off x="1391205" y="3979809"/>
          <a:ext cx="2397125" cy="1438275"/>
        </a:xfrm>
        <a:prstGeom prst="rect">
          <a:avLst/>
        </a:prstGeom>
        <a:solidFill>
          <a:schemeClr val="accent1">
            <a:hueOff val="0"/>
            <a:satOff val="0"/>
            <a:lumOff val="0"/>
            <a:alphaOff val="0"/>
          </a:schemeClr>
        </a:solidFill>
        <a:ln w="15875"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6248" tIns="206248" rIns="206248" bIns="206248" numCol="1" spcCol="1270" anchor="ctr" anchorCtr="0">
          <a:noAutofit/>
        </a:bodyPr>
        <a:lstStyle/>
        <a:p>
          <a:pPr marL="0" lvl="0" indent="0" algn="ctr" defTabSz="1289050">
            <a:lnSpc>
              <a:spcPct val="90000"/>
            </a:lnSpc>
            <a:spcBef>
              <a:spcPct val="0"/>
            </a:spcBef>
            <a:spcAft>
              <a:spcPct val="35000"/>
            </a:spcAft>
            <a:buNone/>
          </a:pPr>
          <a:r>
            <a:rPr lang="en-US" sz="2900" kern="1200" dirty="0"/>
            <a:t>letter</a:t>
          </a:r>
          <a:endParaRPr lang="en-IN" sz="2900" kern="1200" dirty="0"/>
        </a:p>
      </dsp:txBody>
      <dsp:txXfrm>
        <a:off x="1391205" y="3979809"/>
        <a:ext cx="2397125" cy="1438275"/>
      </dsp:txXfrm>
    </dsp:sp>
  </dsp:spTree>
</dsp:drawing>
</file>

<file path=ppt/diagrams/layout1.xml><?xml version="1.0" encoding="utf-8"?>
<dgm:layoutDef xmlns:dgm="http://schemas.openxmlformats.org/drawingml/2006/diagram" xmlns:a="http://schemas.openxmlformats.org/drawingml/2006/main" uniqueId="urn:microsoft.com/office/officeart/2005/8/layout/bProcess3">
  <dgm:title val=""/>
  <dgm:desc val=""/>
  <dgm:catLst>
    <dgm:cat type="process" pri="180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Lst>
        <dgm:ruleLst>
          <dgm:rule type="primFontSz" val="5"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bg2">
                    <a:lumMod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8AA9B37-AE8D-4997-9603-29E53704F258}"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9720C1-674B-4A38-8318-21B016BE30AE}" type="slidenum">
              <a:rPr lang="en-IN" smtClean="0"/>
              <a:t>‹#›</a:t>
            </a:fld>
            <a:endParaRPr lang="en-IN"/>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24595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AA9B37-AE8D-4997-9603-29E53704F258}"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9720C1-674B-4A38-8318-21B016BE30AE}" type="slidenum">
              <a:rPr lang="en-IN" smtClean="0"/>
              <a:t>‹#›</a:t>
            </a:fld>
            <a:endParaRPr lang="en-IN"/>
          </a:p>
        </p:txBody>
      </p:sp>
    </p:spTree>
    <p:extLst>
      <p:ext uri="{BB962C8B-B14F-4D97-AF65-F5344CB8AC3E}">
        <p14:creationId xmlns:p14="http://schemas.microsoft.com/office/powerpoint/2010/main" val="2356580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AA9B37-AE8D-4997-9603-29E53704F258}"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9720C1-674B-4A38-8318-21B016BE30AE}" type="slidenum">
              <a:rPr lang="en-IN" smtClean="0"/>
              <a:t>‹#›</a:t>
            </a:fld>
            <a:endParaRPr lang="en-IN"/>
          </a:p>
        </p:txBody>
      </p:sp>
    </p:spTree>
    <p:extLst>
      <p:ext uri="{BB962C8B-B14F-4D97-AF65-F5344CB8AC3E}">
        <p14:creationId xmlns:p14="http://schemas.microsoft.com/office/powerpoint/2010/main" val="1048916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8AA9B37-AE8D-4997-9603-29E53704F258}" type="datetimeFigureOut">
              <a:rPr lang="en-IN" smtClean="0"/>
              <a:t>10-12-2025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9720C1-674B-4A38-8318-21B016BE30AE}" type="slidenum">
              <a:rPr lang="en-IN" smtClean="0"/>
              <a:t>‹#›</a:t>
            </a:fld>
            <a:endParaRPr lang="en-IN"/>
          </a:p>
        </p:txBody>
      </p:sp>
    </p:spTree>
    <p:extLst>
      <p:ext uri="{BB962C8B-B14F-4D97-AF65-F5344CB8AC3E}">
        <p14:creationId xmlns:p14="http://schemas.microsoft.com/office/powerpoint/2010/main" val="2523346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8AA9B37-AE8D-4997-9603-29E53704F258}" type="datetimeFigureOut">
              <a:rPr lang="en-IN" smtClean="0"/>
              <a:t>10-12-2025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C9720C1-674B-4A38-8318-21B016BE30AE}" type="slidenum">
              <a:rPr lang="en-IN" smtClean="0"/>
              <a:t>‹#›</a:t>
            </a:fld>
            <a:endParaRPr lang="en-IN"/>
          </a:p>
        </p:txBody>
      </p:sp>
    </p:spTree>
    <p:extLst>
      <p:ext uri="{BB962C8B-B14F-4D97-AF65-F5344CB8AC3E}">
        <p14:creationId xmlns:p14="http://schemas.microsoft.com/office/powerpoint/2010/main" val="39994532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8AA9B37-AE8D-4997-9603-29E53704F258}" type="datetimeFigureOut">
              <a:rPr lang="en-IN" smtClean="0"/>
              <a:t>10-12-2025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C9720C1-674B-4A38-8318-21B016BE30AE}" type="slidenum">
              <a:rPr lang="en-IN" smtClean="0"/>
              <a:t>‹#›</a:t>
            </a:fld>
            <a:endParaRPr lang="en-IN"/>
          </a:p>
        </p:txBody>
      </p:sp>
    </p:spTree>
    <p:extLst>
      <p:ext uri="{BB962C8B-B14F-4D97-AF65-F5344CB8AC3E}">
        <p14:creationId xmlns:p14="http://schemas.microsoft.com/office/powerpoint/2010/main" val="30929140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8AA9B37-AE8D-4997-9603-29E53704F258}" type="datetimeFigureOut">
              <a:rPr lang="en-IN" smtClean="0"/>
              <a:t>10-12-2025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C9720C1-674B-4A38-8318-21B016BE30AE}" type="slidenum">
              <a:rPr lang="en-IN" smtClean="0"/>
              <a:t>‹#›</a:t>
            </a:fld>
            <a:endParaRPr lang="en-IN"/>
          </a:p>
        </p:txBody>
      </p:sp>
    </p:spTree>
    <p:extLst>
      <p:ext uri="{BB962C8B-B14F-4D97-AF65-F5344CB8AC3E}">
        <p14:creationId xmlns:p14="http://schemas.microsoft.com/office/powerpoint/2010/main" val="1542810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AA9B37-AE8D-4997-9603-29E53704F258}" type="datetimeFigureOut">
              <a:rPr lang="en-IN" smtClean="0"/>
              <a:t>10-12-2025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9720C1-674B-4A38-8318-21B016BE30AE}" type="slidenum">
              <a:rPr lang="en-IN" smtClean="0"/>
              <a:t>‹#›</a:t>
            </a:fld>
            <a:endParaRPr lang="en-IN"/>
          </a:p>
        </p:txBody>
      </p:sp>
    </p:spTree>
    <p:extLst>
      <p:ext uri="{BB962C8B-B14F-4D97-AF65-F5344CB8AC3E}">
        <p14:creationId xmlns:p14="http://schemas.microsoft.com/office/powerpoint/2010/main" val="29912989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8AA9B37-AE8D-4997-9603-29E53704F258}" type="datetimeFigureOut">
              <a:rPr lang="en-IN" smtClean="0"/>
              <a:t>10-12-2025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C9720C1-674B-4A38-8318-21B016BE30AE}" type="slidenum">
              <a:rPr lang="en-IN" smtClean="0"/>
              <a:t>‹#›</a:t>
            </a:fld>
            <a:endParaRPr lang="en-IN"/>
          </a:p>
        </p:txBody>
      </p:sp>
    </p:spTree>
    <p:extLst>
      <p:ext uri="{BB962C8B-B14F-4D97-AF65-F5344CB8AC3E}">
        <p14:creationId xmlns:p14="http://schemas.microsoft.com/office/powerpoint/2010/main" val="40789994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98AA9B37-AE8D-4997-9603-29E53704F258}" type="datetimeFigureOut">
              <a:rPr lang="en-IN" smtClean="0"/>
              <a:t>10-12-2025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C9720C1-674B-4A38-8318-21B016BE30AE}" type="slidenum">
              <a:rPr lang="en-IN" smtClean="0"/>
              <a:t>‹#›</a:t>
            </a:fld>
            <a:endParaRPr lang="en-IN"/>
          </a:p>
        </p:txBody>
      </p:sp>
    </p:spTree>
    <p:extLst>
      <p:ext uri="{BB962C8B-B14F-4D97-AF65-F5344CB8AC3E}">
        <p14:creationId xmlns:p14="http://schemas.microsoft.com/office/powerpoint/2010/main" val="16679734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AA9B37-AE8D-4997-9603-29E53704F258}"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9720C1-674B-4A38-8318-21B016BE30AE}" type="slidenum">
              <a:rPr lang="en-IN" smtClean="0"/>
              <a:t>‹#›</a:t>
            </a:fld>
            <a:endParaRPr lang="en-IN"/>
          </a:p>
        </p:txBody>
      </p:sp>
    </p:spTree>
    <p:extLst>
      <p:ext uri="{BB962C8B-B14F-4D97-AF65-F5344CB8AC3E}">
        <p14:creationId xmlns:p14="http://schemas.microsoft.com/office/powerpoint/2010/main" val="227949686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AA9B37-AE8D-4997-9603-29E53704F258}"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9720C1-674B-4A38-8318-21B016BE30AE}" type="slidenum">
              <a:rPr lang="en-IN" smtClean="0"/>
              <a:t>‹#›</a:t>
            </a:fld>
            <a:endParaRPr lang="en-IN"/>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21872289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en-US"/>
              <a:t>Click to edit Master title style</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AA9B37-AE8D-4997-9603-29E53704F258}"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9720C1-674B-4A38-8318-21B016BE30AE}" type="slidenum">
              <a:rPr lang="en-IN" smtClean="0"/>
              <a:t>‹#›</a:t>
            </a:fld>
            <a:endParaRPr lang="en-IN"/>
          </a:p>
        </p:txBody>
      </p:sp>
    </p:spTree>
    <p:extLst>
      <p:ext uri="{BB962C8B-B14F-4D97-AF65-F5344CB8AC3E}">
        <p14:creationId xmlns:p14="http://schemas.microsoft.com/office/powerpoint/2010/main" val="399609850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AA9B37-AE8D-4997-9603-29E53704F258}"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9720C1-674B-4A38-8318-21B016BE30AE}" type="slidenum">
              <a:rPr lang="en-IN" smtClean="0"/>
              <a:t>‹#›</a:t>
            </a:fld>
            <a:endParaRPr lang="en-IN"/>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13013998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bg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8AA9B37-AE8D-4997-9603-29E53704F258}"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9720C1-674B-4A38-8318-21B016BE30AE}" type="slidenum">
              <a:rPr lang="en-IN" smtClean="0"/>
              <a:t>‹#›</a:t>
            </a:fld>
            <a:endParaRPr lang="en-IN"/>
          </a:p>
        </p:txBody>
      </p:sp>
    </p:spTree>
    <p:extLst>
      <p:ext uri="{BB962C8B-B14F-4D97-AF65-F5344CB8AC3E}">
        <p14:creationId xmlns:p14="http://schemas.microsoft.com/office/powerpoint/2010/main" val="240200527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AA9B37-AE8D-4997-9603-29E53704F258}"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9720C1-674B-4A38-8318-21B016BE30AE}" type="slidenum">
              <a:rPr lang="en-IN" smtClean="0"/>
              <a:t>‹#›</a:t>
            </a:fld>
            <a:endParaRPr lang="en-IN"/>
          </a:p>
        </p:txBody>
      </p:sp>
    </p:spTree>
    <p:extLst>
      <p:ext uri="{BB962C8B-B14F-4D97-AF65-F5344CB8AC3E}">
        <p14:creationId xmlns:p14="http://schemas.microsoft.com/office/powerpoint/2010/main" val="319277278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8AA9B37-AE8D-4997-9603-29E53704F258}" type="datetimeFigureOut">
              <a:rPr lang="en-IN" smtClean="0"/>
              <a:t>10-12-2025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C9720C1-674B-4A38-8318-21B016BE30AE}" type="slidenum">
              <a:rPr lang="en-IN" smtClean="0"/>
              <a:t>‹#›</a:t>
            </a:fld>
            <a:endParaRPr lang="en-IN"/>
          </a:p>
        </p:txBody>
      </p:sp>
    </p:spTree>
    <p:extLst>
      <p:ext uri="{BB962C8B-B14F-4D97-AF65-F5344CB8AC3E}">
        <p14:creationId xmlns:p14="http://schemas.microsoft.com/office/powerpoint/2010/main" val="9477650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98AA9B37-AE8D-4997-9603-29E53704F258}" type="datetimeFigureOut">
              <a:rPr lang="en-IN" smtClean="0"/>
              <a:t>10-12-2025</a:t>
            </a:fld>
            <a:endParaRPr lang="en-IN"/>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IN"/>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0C9720C1-674B-4A38-8318-21B016BE30AE}" type="slidenum">
              <a:rPr lang="en-IN" smtClean="0"/>
              <a:t>‹#›</a:t>
            </a:fld>
            <a:endParaRPr lang="en-IN"/>
          </a:p>
        </p:txBody>
      </p:sp>
    </p:spTree>
    <p:extLst>
      <p:ext uri="{BB962C8B-B14F-4D97-AF65-F5344CB8AC3E}">
        <p14:creationId xmlns:p14="http://schemas.microsoft.com/office/powerpoint/2010/main" val="4225690692"/>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bg2">
              <a:lumMod val="7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bg2">
              <a:lumMod val="7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bg2">
              <a:lumMod val="7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bg2">
              <a:lumMod val="7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74FA17-BE13-FE4E-3EE0-42A9F628B779}"/>
              </a:ext>
            </a:extLst>
          </p:cNvPr>
          <p:cNvSpPr>
            <a:spLocks noGrp="1"/>
          </p:cNvSpPr>
          <p:nvPr>
            <p:ph type="ctrTitle"/>
          </p:nvPr>
        </p:nvSpPr>
        <p:spPr>
          <a:xfrm>
            <a:off x="144379" y="224589"/>
            <a:ext cx="9836234" cy="2261937"/>
          </a:xfrm>
        </p:spPr>
        <p:txBody>
          <a:bodyPr/>
          <a:lstStyle/>
          <a:p>
            <a:r>
              <a:rPr lang="en-US" dirty="0">
                <a:latin typeface="Adobe Arabic" panose="02040503050201020203" pitchFamily="18" charset="-78"/>
                <a:cs typeface="Adobe Arabic" panose="02040503050201020203" pitchFamily="18" charset="-78"/>
              </a:rPr>
              <a:t>AI-Driven Loan Sales Chatbot for Tata Capital</a:t>
            </a:r>
            <a:endParaRPr lang="en-IN" dirty="0">
              <a:latin typeface="Adobe Arabic" panose="02040503050201020203" pitchFamily="18" charset="-78"/>
              <a:cs typeface="Adobe Arabic" panose="02040503050201020203" pitchFamily="18" charset="-78"/>
            </a:endParaRPr>
          </a:p>
        </p:txBody>
      </p:sp>
      <p:sp>
        <p:nvSpPr>
          <p:cNvPr id="3" name="Subtitle 2">
            <a:extLst>
              <a:ext uri="{FF2B5EF4-FFF2-40B4-BE49-F238E27FC236}">
                <a16:creationId xmlns:a16="http://schemas.microsoft.com/office/drawing/2014/main" id="{5BC10FC7-9B49-E1A6-D821-8998974CA4B7}"/>
              </a:ext>
            </a:extLst>
          </p:cNvPr>
          <p:cNvSpPr>
            <a:spLocks noGrp="1"/>
          </p:cNvSpPr>
          <p:nvPr>
            <p:ph type="subTitle" idx="1"/>
          </p:nvPr>
        </p:nvSpPr>
        <p:spPr>
          <a:xfrm>
            <a:off x="144379" y="4122821"/>
            <a:ext cx="11662609" cy="2735179"/>
          </a:xfrm>
        </p:spPr>
        <p:txBody>
          <a:bodyPr>
            <a:normAutofit/>
          </a:bodyPr>
          <a:lstStyle/>
          <a:p>
            <a:r>
              <a:rPr lang="en-US" sz="2800" dirty="0">
                <a:latin typeface="Adobe Devanagari" panose="02040503050201020203" pitchFamily="18" charset="0"/>
                <a:cs typeface="Adobe Devanagari" panose="02040503050201020203" pitchFamily="18" charset="0"/>
              </a:rPr>
              <a:t>The current process of personal loan sales at Tata Capital is largely </a:t>
            </a:r>
            <a:r>
              <a:rPr lang="en-US" sz="2800" b="1" dirty="0">
                <a:latin typeface="Adobe Devanagari" panose="02040503050201020203" pitchFamily="18" charset="0"/>
                <a:cs typeface="Adobe Devanagari" panose="02040503050201020203" pitchFamily="18" charset="0"/>
              </a:rPr>
              <a:t>manual and time-consuming</a:t>
            </a:r>
            <a:r>
              <a:rPr lang="en-US" sz="2800" dirty="0">
                <a:latin typeface="Adobe Devanagari" panose="02040503050201020203" pitchFamily="18" charset="0"/>
                <a:cs typeface="Adobe Devanagari" panose="02040503050201020203" pitchFamily="18" charset="0"/>
              </a:rPr>
              <a:t>.</a:t>
            </a:r>
            <a:br>
              <a:rPr lang="en-US" sz="2800" dirty="0">
                <a:latin typeface="Adobe Devanagari" panose="02040503050201020203" pitchFamily="18" charset="0"/>
                <a:cs typeface="Adobe Devanagari" panose="02040503050201020203" pitchFamily="18" charset="0"/>
              </a:rPr>
            </a:br>
            <a:r>
              <a:rPr lang="en-US" sz="2800" dirty="0">
                <a:latin typeface="Adobe Devanagari" panose="02040503050201020203" pitchFamily="18" charset="0"/>
                <a:cs typeface="Adobe Devanagari" panose="02040503050201020203" pitchFamily="18" charset="0"/>
              </a:rPr>
              <a:t>Customer conversations, KYC verification, credit evaluation, and loan sanction all require human agents, leading to </a:t>
            </a:r>
            <a:r>
              <a:rPr lang="en-US" sz="2800" b="1" dirty="0">
                <a:latin typeface="Adobe Devanagari" panose="02040503050201020203" pitchFamily="18" charset="0"/>
                <a:cs typeface="Adobe Devanagari" panose="02040503050201020203" pitchFamily="18" charset="0"/>
              </a:rPr>
              <a:t>slow response times and missed sales opportunities</a:t>
            </a:r>
            <a:r>
              <a:rPr lang="en-US" sz="2800" dirty="0">
                <a:latin typeface="Adobe Devanagari" panose="02040503050201020203" pitchFamily="18" charset="0"/>
                <a:cs typeface="Adobe Devanagari" panose="02040503050201020203" pitchFamily="18" charset="0"/>
              </a:rPr>
              <a:t>.</a:t>
            </a:r>
            <a:endParaRPr lang="en-IN" sz="2800" dirty="0">
              <a:latin typeface="Adobe Devanagari" panose="02040503050201020203" pitchFamily="18" charset="0"/>
              <a:cs typeface="Adobe Devanagari" panose="02040503050201020203" pitchFamily="18" charset="0"/>
            </a:endParaRPr>
          </a:p>
        </p:txBody>
      </p:sp>
    </p:spTree>
    <p:extLst>
      <p:ext uri="{BB962C8B-B14F-4D97-AF65-F5344CB8AC3E}">
        <p14:creationId xmlns:p14="http://schemas.microsoft.com/office/powerpoint/2010/main" val="15672912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15B5D00-02C2-5951-AB7A-CFE8502626C0}"/>
              </a:ext>
            </a:extLst>
          </p:cNvPr>
          <p:cNvSpPr txBox="1"/>
          <p:nvPr/>
        </p:nvSpPr>
        <p:spPr>
          <a:xfrm>
            <a:off x="1" y="-3"/>
            <a:ext cx="12352420" cy="5262979"/>
          </a:xfrm>
          <a:prstGeom prst="rect">
            <a:avLst/>
          </a:prstGeom>
          <a:noFill/>
        </p:spPr>
        <p:txBody>
          <a:bodyPr wrap="square">
            <a:spAutoFit/>
          </a:bodyPr>
          <a:lstStyle/>
          <a:p>
            <a:r>
              <a:rPr lang="en-US" sz="2400" dirty="0">
                <a:latin typeface="+mj-lt"/>
              </a:rPr>
              <a:t>The personal loan sales process today is fragmented and manual: customers interact with human agents, KYC and document checks take time, underwriting decisions rely on separate systems, and sanction letters are generated manually. This leads to slow response times, higher drop-off rates, and missed revenue opportunities. Our solution is a web-based Agentic AI system (Master + Worker Agents) that automates the end-to-end workflow—delivering consistent, fast and personalized loan approvals and generating sanction letters automatically.</a:t>
            </a:r>
          </a:p>
          <a:p>
            <a:endParaRPr lang="en-US" sz="2400" dirty="0">
              <a:latin typeface="+mj-lt"/>
            </a:endParaRPr>
          </a:p>
          <a:p>
            <a:r>
              <a:rPr lang="en-US" sz="2400" dirty="0"/>
              <a:t>*  Reduce application-to-sanction time from manual minutes to near-instant responses.</a:t>
            </a:r>
          </a:p>
          <a:p>
            <a:r>
              <a:rPr lang="en-US" sz="2400" dirty="0"/>
              <a:t>*  Improve conversion through personalized, persuasive conversation flow.</a:t>
            </a:r>
          </a:p>
          <a:p>
            <a:r>
              <a:rPr lang="en-US" sz="2400" dirty="0"/>
              <a:t>*  Automate verification, eligibility checks and documentation handling.</a:t>
            </a:r>
          </a:p>
          <a:p>
            <a:r>
              <a:rPr lang="en-US" sz="2400" dirty="0"/>
              <a:t>*  Produce downloadable sanction letters and audit logs for compliance.</a:t>
            </a:r>
          </a:p>
          <a:p>
            <a:endParaRPr lang="en-IN" sz="2400" dirty="0">
              <a:latin typeface="+mj-lt"/>
            </a:endParaRPr>
          </a:p>
        </p:txBody>
      </p:sp>
    </p:spTree>
    <p:extLst>
      <p:ext uri="{BB962C8B-B14F-4D97-AF65-F5344CB8AC3E}">
        <p14:creationId xmlns:p14="http://schemas.microsoft.com/office/powerpoint/2010/main" val="5758822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1076B5-4D63-CC73-8CC5-6B575C51B14E}"/>
              </a:ext>
            </a:extLst>
          </p:cNvPr>
          <p:cNvSpPr>
            <a:spLocks noGrp="1"/>
          </p:cNvSpPr>
          <p:nvPr>
            <p:ph type="title"/>
          </p:nvPr>
        </p:nvSpPr>
        <p:spPr>
          <a:xfrm>
            <a:off x="0" y="304799"/>
            <a:ext cx="12400547" cy="4042611"/>
          </a:xfrm>
        </p:spPr>
        <p:txBody>
          <a:bodyPr>
            <a:normAutofit fontScale="90000"/>
          </a:bodyPr>
          <a:lstStyle/>
          <a:p>
            <a:r>
              <a:rPr lang="en-US" sz="3600" dirty="0">
                <a:latin typeface="Adobe Caslon Pro Bold" panose="0205070206050A020403" pitchFamily="18" charset="0"/>
              </a:rPr>
              <a:t>Customer Journey — From Chat to Sanction</a:t>
            </a:r>
            <a:br>
              <a:rPr lang="en-US" sz="3600" dirty="0">
                <a:latin typeface="Adobe Caslon Pro Bold" panose="0205070206050A020403" pitchFamily="18" charset="0"/>
              </a:rPr>
            </a:br>
            <a:br>
              <a:rPr lang="en-US" dirty="0">
                <a:latin typeface="Adobe Caslon Pro Bold" panose="0205070206050A020403" pitchFamily="18" charset="0"/>
              </a:rPr>
            </a:br>
            <a:r>
              <a:rPr lang="en-US" sz="2000" dirty="0">
                <a:latin typeface="Adobe Caslon Pro Bold" panose="0205070206050A020403" pitchFamily="18" charset="0"/>
              </a:rPr>
              <a:t>1] </a:t>
            </a:r>
            <a:r>
              <a:rPr lang="en-US" sz="2000" dirty="0">
                <a:latin typeface="Adobe Gothic Std B" panose="020B0800000000000000" pitchFamily="34" charset="-128"/>
                <a:ea typeface="Adobe Gothic Std B" panose="020B0800000000000000" pitchFamily="34" charset="-128"/>
              </a:rPr>
              <a:t>Customer lands on chat (web/mobile/WhatsApp).</a:t>
            </a:r>
            <a:br>
              <a:rPr lang="en-US" sz="2000" dirty="0">
                <a:latin typeface="Adobe Gothic Std B" panose="020B0800000000000000" pitchFamily="34" charset="-128"/>
                <a:ea typeface="Adobe Gothic Std B" panose="020B0800000000000000" pitchFamily="34" charset="-128"/>
              </a:rPr>
            </a:br>
            <a:r>
              <a:rPr lang="en-US" sz="2000" dirty="0">
                <a:latin typeface="Adobe Gothic Std B" panose="020B0800000000000000" pitchFamily="34" charset="-128"/>
                <a:ea typeface="Adobe Gothic Std B" panose="020B0800000000000000" pitchFamily="34" charset="-128"/>
              </a:rPr>
              <a:t>2]  Bot collects basic info: name, phone, loan amount, tenure.</a:t>
            </a:r>
            <a:br>
              <a:rPr lang="en-US" sz="2000" dirty="0">
                <a:latin typeface="Adobe Gothic Std B" panose="020B0800000000000000" pitchFamily="34" charset="-128"/>
                <a:ea typeface="Adobe Gothic Std B" panose="020B0800000000000000" pitchFamily="34" charset="-128"/>
              </a:rPr>
            </a:br>
            <a:r>
              <a:rPr lang="en-US" sz="2000" dirty="0">
                <a:latin typeface="Adobe Gothic Std B" panose="020B0800000000000000" pitchFamily="34" charset="-128"/>
                <a:ea typeface="Adobe Gothic Std B" panose="020B0800000000000000" pitchFamily="34" charset="-128"/>
              </a:rPr>
              <a:t>3]  Bot checks pre-approved offers and asks simple qualifying questions</a:t>
            </a:r>
            <a:br>
              <a:rPr lang="en-US" sz="2000" dirty="0">
                <a:latin typeface="Adobe Gothic Std B" panose="020B0800000000000000" pitchFamily="34" charset="-128"/>
                <a:ea typeface="Adobe Gothic Std B" panose="020B0800000000000000" pitchFamily="34" charset="-128"/>
              </a:rPr>
            </a:br>
            <a:r>
              <a:rPr lang="en-US" sz="2000" dirty="0">
                <a:latin typeface="Adobe Gothic Std B" panose="020B0800000000000000" pitchFamily="34" charset="-128"/>
                <a:ea typeface="Adobe Gothic Std B" panose="020B0800000000000000" pitchFamily="34" charset="-128"/>
              </a:rPr>
              <a:t>4]  if required, bot requests document upload (salary slip, ID).</a:t>
            </a:r>
            <a:br>
              <a:rPr lang="en-US" sz="2000" dirty="0">
                <a:latin typeface="Adobe Gothic Std B" panose="020B0800000000000000" pitchFamily="34" charset="-128"/>
                <a:ea typeface="Adobe Gothic Std B" panose="020B0800000000000000" pitchFamily="34" charset="-128"/>
              </a:rPr>
            </a:br>
            <a:r>
              <a:rPr lang="en-US" sz="2000" dirty="0">
                <a:latin typeface="Adobe Gothic Std B" panose="020B0800000000000000" pitchFamily="34" charset="-128"/>
                <a:ea typeface="Adobe Gothic Std B" panose="020B0800000000000000" pitchFamily="34" charset="-128"/>
              </a:rPr>
              <a:t>5]  </a:t>
            </a:r>
            <a:r>
              <a:rPr lang="en-IN" sz="2000" dirty="0">
                <a:latin typeface="Adobe Gothic Std B" panose="020B0800000000000000" pitchFamily="34" charset="-128"/>
                <a:ea typeface="Adobe Gothic Std B" panose="020B0800000000000000" pitchFamily="34" charset="-128"/>
              </a:rPr>
              <a:t>Verification Agent validates KYC and documents via mock CRM/APIs.</a:t>
            </a:r>
            <a:br>
              <a:rPr lang="en-IN" sz="2000" dirty="0">
                <a:latin typeface="Adobe Gothic Std B" panose="020B0800000000000000" pitchFamily="34" charset="-128"/>
                <a:ea typeface="Adobe Gothic Std B" panose="020B0800000000000000" pitchFamily="34" charset="-128"/>
              </a:rPr>
            </a:br>
            <a:r>
              <a:rPr lang="en-IN" sz="2000" dirty="0">
                <a:latin typeface="Adobe Gothic Std B" panose="020B0800000000000000" pitchFamily="34" charset="-128"/>
                <a:ea typeface="Adobe Gothic Std B" panose="020B0800000000000000" pitchFamily="34" charset="-128"/>
              </a:rPr>
              <a:t>6]  </a:t>
            </a:r>
            <a:r>
              <a:rPr lang="en-US" sz="2000" dirty="0">
                <a:latin typeface="Adobe Gothic Std B" panose="020B0800000000000000" pitchFamily="34" charset="-128"/>
                <a:ea typeface="Adobe Gothic Std B" panose="020B0800000000000000" pitchFamily="34" charset="-128"/>
              </a:rPr>
              <a:t>Underwriting Agent checks credit score and applies eligibility rules.</a:t>
            </a:r>
            <a:br>
              <a:rPr lang="en-US" sz="2000" dirty="0">
                <a:latin typeface="Adobe Gothic Std B" panose="020B0800000000000000" pitchFamily="34" charset="-128"/>
                <a:ea typeface="Adobe Gothic Std B" panose="020B0800000000000000" pitchFamily="34" charset="-128"/>
              </a:rPr>
            </a:br>
            <a:r>
              <a:rPr lang="en-US" sz="2000" dirty="0">
                <a:latin typeface="Adobe Gothic Std B" panose="020B0800000000000000" pitchFamily="34" charset="-128"/>
                <a:ea typeface="Adobe Gothic Std B" panose="020B0800000000000000" pitchFamily="34" charset="-128"/>
              </a:rPr>
              <a:t>7]  If approved, Sanction Agent generates sanction letter (PDF) and sends download link.</a:t>
            </a:r>
            <a:br>
              <a:rPr lang="en-US" sz="2000" dirty="0">
                <a:latin typeface="Adobe Gothic Std B" panose="020B0800000000000000" pitchFamily="34" charset="-128"/>
                <a:ea typeface="Adobe Gothic Std B" panose="020B0800000000000000" pitchFamily="34" charset="-128"/>
              </a:rPr>
            </a:br>
            <a:r>
              <a:rPr lang="en-US" sz="2000" dirty="0">
                <a:latin typeface="Adobe Gothic Std B" panose="020B0800000000000000" pitchFamily="34" charset="-128"/>
                <a:ea typeface="Adobe Gothic Std B" panose="020B0800000000000000" pitchFamily="34" charset="-128"/>
              </a:rPr>
              <a:t>8]  If rejected, bot provides reason and next steps (appeal/alternate products).</a:t>
            </a:r>
            <a:br>
              <a:rPr lang="en-US" sz="2000" dirty="0">
                <a:latin typeface="Adobe Gothic Std B" panose="020B0800000000000000" pitchFamily="34" charset="-128"/>
                <a:ea typeface="Adobe Gothic Std B" panose="020B0800000000000000" pitchFamily="34" charset="-128"/>
              </a:rPr>
            </a:br>
            <a:br>
              <a:rPr lang="en-US" sz="2000" dirty="0">
                <a:latin typeface="Adobe Gothic Std B" panose="020B0800000000000000" pitchFamily="34" charset="-128"/>
                <a:ea typeface="Adobe Gothic Std B" panose="020B0800000000000000" pitchFamily="34" charset="-128"/>
              </a:rPr>
            </a:br>
            <a:endParaRPr lang="en-IN" sz="2000" dirty="0">
              <a:latin typeface="Adobe Gothic Std B" panose="020B0800000000000000" pitchFamily="34" charset="-128"/>
              <a:ea typeface="Adobe Gothic Std B" panose="020B0800000000000000" pitchFamily="34" charset="-128"/>
            </a:endParaRPr>
          </a:p>
        </p:txBody>
      </p:sp>
      <p:sp>
        <p:nvSpPr>
          <p:cNvPr id="3" name="Text Placeholder 2">
            <a:extLst>
              <a:ext uri="{FF2B5EF4-FFF2-40B4-BE49-F238E27FC236}">
                <a16:creationId xmlns:a16="http://schemas.microsoft.com/office/drawing/2014/main" id="{70379913-97D2-63E2-596F-14B72EF678C2}"/>
              </a:ext>
            </a:extLst>
          </p:cNvPr>
          <p:cNvSpPr>
            <a:spLocks noGrp="1"/>
          </p:cNvSpPr>
          <p:nvPr>
            <p:ph type="body" idx="1"/>
          </p:nvPr>
        </p:nvSpPr>
        <p:spPr>
          <a:xfrm>
            <a:off x="0" y="4347410"/>
            <a:ext cx="12192000" cy="2510589"/>
          </a:xfrm>
        </p:spPr>
        <p:txBody>
          <a:bodyPr>
            <a:normAutofit/>
          </a:bodyPr>
          <a:lstStyle/>
          <a:p>
            <a:r>
              <a:rPr lang="en-IN" sz="2800" dirty="0">
                <a:latin typeface="Adobe Caslon Pro Bold" panose="0205070206050A020403" pitchFamily="18" charset="0"/>
              </a:rPr>
              <a:t>Customer → Master Agent (chat UI) then branching arrows to Sales Agent (collects) → Verification Agent (KYC/documents) → Underwriting Agent (decision) → Sanction Letter Agent (PDF) → Customer (download/email)</a:t>
            </a:r>
          </a:p>
        </p:txBody>
      </p:sp>
    </p:spTree>
    <p:extLst>
      <p:ext uri="{BB962C8B-B14F-4D97-AF65-F5344CB8AC3E}">
        <p14:creationId xmlns:p14="http://schemas.microsoft.com/office/powerpoint/2010/main" val="3210759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7979BEB-637F-B673-05C2-6ADAFC935D17}"/>
              </a:ext>
            </a:extLst>
          </p:cNvPr>
          <p:cNvSpPr txBox="1"/>
          <p:nvPr/>
        </p:nvSpPr>
        <p:spPr>
          <a:xfrm>
            <a:off x="304799" y="615303"/>
            <a:ext cx="11621729" cy="3693319"/>
          </a:xfrm>
          <a:prstGeom prst="rect">
            <a:avLst/>
          </a:prstGeom>
          <a:noFill/>
        </p:spPr>
        <p:txBody>
          <a:bodyPr wrap="square">
            <a:spAutoFit/>
          </a:bodyPr>
          <a:lstStyle/>
          <a:p>
            <a:pPr>
              <a:buFont typeface="Arial" panose="020B0604020202020204" pitchFamily="34" charset="0"/>
              <a:buChar char="•"/>
            </a:pPr>
            <a:r>
              <a:rPr lang="en-US" b="1" dirty="0"/>
              <a:t>Master Agent (Chat Orchestrator):</a:t>
            </a:r>
            <a:r>
              <a:rPr lang="en-US" dirty="0"/>
              <a:t> Receives user messages, decomposes tasks, aggregates results, and maintains session state.</a:t>
            </a:r>
          </a:p>
          <a:p>
            <a:pPr>
              <a:buFont typeface="Arial" panose="020B0604020202020204" pitchFamily="34" charset="0"/>
              <a:buChar char="•"/>
            </a:pPr>
            <a:r>
              <a:rPr lang="en-US" b="1" dirty="0"/>
              <a:t>Sales Agent:</a:t>
            </a:r>
            <a:r>
              <a:rPr lang="en-US" dirty="0"/>
              <a:t> Interacts conversationally to collect loan preferences and nudges users toward completion.</a:t>
            </a:r>
          </a:p>
          <a:p>
            <a:pPr>
              <a:buFont typeface="Arial" panose="020B0604020202020204" pitchFamily="34" charset="0"/>
              <a:buChar char="•"/>
            </a:pPr>
            <a:r>
              <a:rPr lang="en-US" b="1" dirty="0"/>
              <a:t>Verification Agent:</a:t>
            </a:r>
            <a:r>
              <a:rPr lang="en-US" dirty="0"/>
              <a:t> Looks up KYC details in a dummy CRM, validates phone/address, and verifies uploaded documents.</a:t>
            </a:r>
          </a:p>
          <a:p>
            <a:pPr>
              <a:buFont typeface="Arial" panose="020B0604020202020204" pitchFamily="34" charset="0"/>
              <a:buChar char="•"/>
            </a:pPr>
            <a:r>
              <a:rPr lang="en-US" b="1" dirty="0"/>
              <a:t>Underwriting Agent:</a:t>
            </a:r>
            <a:r>
              <a:rPr lang="en-US" dirty="0"/>
              <a:t> Uses mock credit score data and pre-defined rules to approve/reject or request more docs.</a:t>
            </a:r>
          </a:p>
          <a:p>
            <a:pPr>
              <a:buFont typeface="Arial" panose="020B0604020202020204" pitchFamily="34" charset="0"/>
              <a:buChar char="•"/>
            </a:pPr>
            <a:r>
              <a:rPr lang="en-US" b="1" dirty="0"/>
              <a:t>Sanction Letter Agent:</a:t>
            </a:r>
            <a:r>
              <a:rPr lang="en-US" dirty="0"/>
              <a:t> Populates a PDF template with customer &amp; loan details and produces a downloadable sanction letter.</a:t>
            </a:r>
          </a:p>
          <a:p>
            <a:pPr>
              <a:buFont typeface="Arial" panose="020B0604020202020204" pitchFamily="34" charset="0"/>
              <a:buChar char="•"/>
            </a:pPr>
            <a:r>
              <a:rPr lang="en-US" b="1" dirty="0"/>
              <a:t>Mock Data Layer / APIs:</a:t>
            </a:r>
            <a:r>
              <a:rPr lang="en-US" dirty="0"/>
              <a:t> CSV/JSON files for customers, credit scores, and mock CRM; optional Flask endpoints to simulate APIs.</a:t>
            </a:r>
          </a:p>
          <a:p>
            <a:pPr>
              <a:buFont typeface="Arial" panose="020B0604020202020204" pitchFamily="34" charset="0"/>
              <a:buChar char="•"/>
            </a:pPr>
            <a:r>
              <a:rPr lang="en-US" b="1" dirty="0"/>
              <a:t>Frontend (Demo):</a:t>
            </a:r>
            <a:r>
              <a:rPr lang="en-US" dirty="0"/>
              <a:t> </a:t>
            </a:r>
            <a:r>
              <a:rPr lang="en-US" dirty="0" err="1"/>
              <a:t>Streamlit</a:t>
            </a:r>
            <a:r>
              <a:rPr lang="en-US" dirty="0"/>
              <a:t>/</a:t>
            </a:r>
            <a:r>
              <a:rPr lang="en-US" dirty="0" err="1"/>
              <a:t>Gradio</a:t>
            </a:r>
            <a:r>
              <a:rPr lang="en-US" dirty="0"/>
              <a:t> chat UI showing conversation, document upload, and PDF link.</a:t>
            </a:r>
          </a:p>
        </p:txBody>
      </p:sp>
    </p:spTree>
    <p:extLst>
      <p:ext uri="{BB962C8B-B14F-4D97-AF65-F5344CB8AC3E}">
        <p14:creationId xmlns:p14="http://schemas.microsoft.com/office/powerpoint/2010/main" val="1856509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73899CA-E1EB-A2DD-9325-B62B8F336F44}"/>
              </a:ext>
            </a:extLst>
          </p:cNvPr>
          <p:cNvSpPr txBox="1"/>
          <p:nvPr/>
        </p:nvSpPr>
        <p:spPr>
          <a:xfrm>
            <a:off x="1" y="0"/>
            <a:ext cx="9166122" cy="461665"/>
          </a:xfrm>
          <a:prstGeom prst="rect">
            <a:avLst/>
          </a:prstGeom>
          <a:noFill/>
        </p:spPr>
        <p:txBody>
          <a:bodyPr wrap="square">
            <a:spAutoFit/>
          </a:bodyPr>
          <a:lstStyle/>
          <a:p>
            <a:r>
              <a:rPr lang="en-IN" sz="2400" dirty="0">
                <a:solidFill>
                  <a:schemeClr val="bg1"/>
                </a:solidFill>
                <a:latin typeface="Adobe Gothic Std B" panose="020B0800000000000000" pitchFamily="34" charset="-128"/>
                <a:ea typeface="Adobe Gothic Std B" panose="020B0800000000000000" pitchFamily="34" charset="-128"/>
              </a:rPr>
              <a:t>Conversation Examples </a:t>
            </a:r>
          </a:p>
        </p:txBody>
      </p:sp>
      <p:sp>
        <p:nvSpPr>
          <p:cNvPr id="5" name="TextBox 4">
            <a:extLst>
              <a:ext uri="{FF2B5EF4-FFF2-40B4-BE49-F238E27FC236}">
                <a16:creationId xmlns:a16="http://schemas.microsoft.com/office/drawing/2014/main" id="{0F15D8F6-D6B3-4E82-0169-3A5344049E84}"/>
              </a:ext>
            </a:extLst>
          </p:cNvPr>
          <p:cNvSpPr txBox="1"/>
          <p:nvPr/>
        </p:nvSpPr>
        <p:spPr>
          <a:xfrm>
            <a:off x="0" y="369332"/>
            <a:ext cx="9153832" cy="1477328"/>
          </a:xfrm>
          <a:prstGeom prst="rect">
            <a:avLst/>
          </a:prstGeom>
          <a:noFill/>
        </p:spPr>
        <p:txBody>
          <a:bodyPr wrap="square">
            <a:spAutoFit/>
          </a:bodyPr>
          <a:lstStyle/>
          <a:p>
            <a:pPr>
              <a:buNone/>
            </a:pPr>
            <a:r>
              <a:rPr lang="en-US" b="1" dirty="0"/>
              <a:t>Scenario A — Instant approval (short transcript):</a:t>
            </a:r>
            <a:endParaRPr lang="en-US" dirty="0"/>
          </a:p>
          <a:p>
            <a:pPr>
              <a:buFont typeface="Arial" panose="020B0604020202020204" pitchFamily="34" charset="0"/>
              <a:buChar char="•"/>
            </a:pPr>
            <a:r>
              <a:rPr lang="en-US" dirty="0"/>
              <a:t>User: “I need ₹1,50,000 for 24 months.”</a:t>
            </a:r>
          </a:p>
          <a:p>
            <a:pPr>
              <a:buFont typeface="Arial" panose="020B0604020202020204" pitchFamily="34" charset="0"/>
              <a:buChar char="•"/>
            </a:pPr>
            <a:r>
              <a:rPr lang="en-US" dirty="0"/>
              <a:t>Bot: “Nice — checking your pre-approved offers and credit score.”</a:t>
            </a:r>
          </a:p>
          <a:p>
            <a:pPr>
              <a:buFont typeface="Arial" panose="020B0604020202020204" pitchFamily="34" charset="0"/>
              <a:buChar char="•"/>
            </a:pPr>
            <a:r>
              <a:rPr lang="en-US" dirty="0"/>
              <a:t>Bot: “Credit score 760. Amount within pre-approved limit — approved ✅ Generating sanction letter...”</a:t>
            </a:r>
          </a:p>
        </p:txBody>
      </p:sp>
      <p:sp>
        <p:nvSpPr>
          <p:cNvPr id="7" name="TextBox 6">
            <a:extLst>
              <a:ext uri="{FF2B5EF4-FFF2-40B4-BE49-F238E27FC236}">
                <a16:creationId xmlns:a16="http://schemas.microsoft.com/office/drawing/2014/main" id="{C18BD1AB-260B-C80A-1CE9-3219FEB3EF53}"/>
              </a:ext>
            </a:extLst>
          </p:cNvPr>
          <p:cNvSpPr txBox="1"/>
          <p:nvPr/>
        </p:nvSpPr>
        <p:spPr>
          <a:xfrm>
            <a:off x="0" y="1846661"/>
            <a:ext cx="9153832" cy="1754326"/>
          </a:xfrm>
          <a:prstGeom prst="rect">
            <a:avLst/>
          </a:prstGeom>
          <a:noFill/>
        </p:spPr>
        <p:txBody>
          <a:bodyPr wrap="square">
            <a:spAutoFit/>
          </a:bodyPr>
          <a:lstStyle/>
          <a:p>
            <a:pPr>
              <a:buNone/>
            </a:pPr>
            <a:r>
              <a:rPr lang="en-US" b="1" dirty="0"/>
              <a:t>Scenario B — Needs salary slip (conditional):</a:t>
            </a:r>
            <a:endParaRPr lang="en-US" dirty="0"/>
          </a:p>
          <a:p>
            <a:pPr>
              <a:buFont typeface="Arial" panose="020B0604020202020204" pitchFamily="34" charset="0"/>
              <a:buChar char="•"/>
            </a:pPr>
            <a:r>
              <a:rPr lang="en-US" dirty="0"/>
              <a:t>User: “I need ₹3,00,000 for 36 months.”</a:t>
            </a:r>
          </a:p>
          <a:p>
            <a:pPr>
              <a:buFont typeface="Arial" panose="020B0604020202020204" pitchFamily="34" charset="0"/>
              <a:buChar char="•"/>
            </a:pPr>
            <a:r>
              <a:rPr lang="en-US" dirty="0"/>
              <a:t>Bot: “This may need salary verification. Please upload your salary slip.”</a:t>
            </a:r>
          </a:p>
          <a:p>
            <a:pPr>
              <a:buFont typeface="Arial" panose="020B0604020202020204" pitchFamily="34" charset="0"/>
              <a:buChar char="•"/>
            </a:pPr>
            <a:r>
              <a:rPr lang="en-US" dirty="0"/>
              <a:t>User: (uploads)</a:t>
            </a:r>
          </a:p>
          <a:p>
            <a:pPr>
              <a:buFont typeface="Arial" panose="020B0604020202020204" pitchFamily="34" charset="0"/>
              <a:buChar char="•"/>
            </a:pPr>
            <a:r>
              <a:rPr lang="en-US" dirty="0"/>
              <a:t>Bot: “Salary verified. EMI fits your repayment capacity — approved. Letter generated.”</a:t>
            </a:r>
          </a:p>
        </p:txBody>
      </p:sp>
      <p:sp>
        <p:nvSpPr>
          <p:cNvPr id="9" name="TextBox 8">
            <a:extLst>
              <a:ext uri="{FF2B5EF4-FFF2-40B4-BE49-F238E27FC236}">
                <a16:creationId xmlns:a16="http://schemas.microsoft.com/office/drawing/2014/main" id="{1C81F602-1F78-C8C7-7CEC-59AB2EE1F2B7}"/>
              </a:ext>
            </a:extLst>
          </p:cNvPr>
          <p:cNvSpPr txBox="1"/>
          <p:nvPr/>
        </p:nvSpPr>
        <p:spPr>
          <a:xfrm>
            <a:off x="137652" y="3600986"/>
            <a:ext cx="9016180" cy="1477328"/>
          </a:xfrm>
          <a:prstGeom prst="rect">
            <a:avLst/>
          </a:prstGeom>
          <a:noFill/>
        </p:spPr>
        <p:txBody>
          <a:bodyPr wrap="square">
            <a:spAutoFit/>
          </a:bodyPr>
          <a:lstStyle/>
          <a:p>
            <a:pPr>
              <a:buNone/>
            </a:pPr>
            <a:r>
              <a:rPr lang="en-US" b="1" dirty="0"/>
              <a:t>Scenario C — Rejection with guidance:</a:t>
            </a:r>
            <a:endParaRPr lang="en-US" dirty="0"/>
          </a:p>
          <a:p>
            <a:pPr>
              <a:buFont typeface="Arial" panose="020B0604020202020204" pitchFamily="34" charset="0"/>
              <a:buChar char="•"/>
            </a:pPr>
            <a:r>
              <a:rPr lang="en-US" dirty="0"/>
              <a:t>User: “I need ₹4,00,000.”</a:t>
            </a:r>
          </a:p>
          <a:p>
            <a:pPr>
              <a:buFont typeface="Arial" panose="020B0604020202020204" pitchFamily="34" charset="0"/>
              <a:buChar char="•"/>
            </a:pPr>
            <a:r>
              <a:rPr lang="en-US" dirty="0"/>
              <a:t>Bot: “I’m sorry — current eligibility limits or credit score do not meet approval criteria. You can: 1) Apply for a smaller amount; 2) Improve credit score; 3) Visit branch.”</a:t>
            </a:r>
          </a:p>
        </p:txBody>
      </p:sp>
    </p:spTree>
    <p:extLst>
      <p:ext uri="{BB962C8B-B14F-4D97-AF65-F5344CB8AC3E}">
        <p14:creationId xmlns:p14="http://schemas.microsoft.com/office/powerpoint/2010/main" val="32043422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E8B0F449-4499-361A-E972-4516466CAD1C}"/>
              </a:ext>
            </a:extLst>
          </p:cNvPr>
          <p:cNvSpPr txBox="1"/>
          <p:nvPr/>
        </p:nvSpPr>
        <p:spPr>
          <a:xfrm>
            <a:off x="0" y="0"/>
            <a:ext cx="9166122" cy="523220"/>
          </a:xfrm>
          <a:prstGeom prst="rect">
            <a:avLst/>
          </a:prstGeom>
          <a:noFill/>
        </p:spPr>
        <p:txBody>
          <a:bodyPr wrap="square">
            <a:spAutoFit/>
          </a:bodyPr>
          <a:lstStyle/>
          <a:p>
            <a:r>
              <a:rPr lang="en-IN" sz="2800" dirty="0">
                <a:solidFill>
                  <a:schemeClr val="bg1"/>
                </a:solidFill>
              </a:rPr>
              <a:t>Impact, Metrics &amp; Next Steps</a:t>
            </a:r>
          </a:p>
        </p:txBody>
      </p:sp>
      <p:sp>
        <p:nvSpPr>
          <p:cNvPr id="5" name="Rectangle 2">
            <a:extLst>
              <a:ext uri="{FF2B5EF4-FFF2-40B4-BE49-F238E27FC236}">
                <a16:creationId xmlns:a16="http://schemas.microsoft.com/office/drawing/2014/main" id="{93F8C080-BB02-4E38-3512-14EE5F126469}"/>
              </a:ext>
            </a:extLst>
          </p:cNvPr>
          <p:cNvSpPr>
            <a:spLocks noChangeArrowheads="1"/>
          </p:cNvSpPr>
          <p:nvPr/>
        </p:nvSpPr>
        <p:spPr bwMode="auto">
          <a:xfrm>
            <a:off x="0" y="756799"/>
            <a:ext cx="12280489"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Time to sanction:</a:t>
            </a:r>
            <a:r>
              <a:rPr kumimoji="0" lang="en-US" altLang="en-US" sz="1800" b="0" i="0" u="none" strike="noStrike" cap="none" normalizeH="0" baseline="0" dirty="0">
                <a:ln>
                  <a:noFill/>
                </a:ln>
                <a:solidFill>
                  <a:schemeClr val="tx1"/>
                </a:solidFill>
                <a:effectLst/>
                <a:latin typeface="Arial" panose="020B0604020202020204" pitchFamily="34" charset="0"/>
              </a:rPr>
              <a:t> from ~20 minutes (manual) → </a:t>
            </a:r>
            <a:r>
              <a:rPr kumimoji="0" lang="en-US" altLang="en-US" sz="1800" b="1" i="0" u="none" strike="noStrike" cap="none" normalizeH="0" baseline="0" dirty="0">
                <a:ln>
                  <a:noFill/>
                </a:ln>
                <a:solidFill>
                  <a:schemeClr val="tx1"/>
                </a:solidFill>
                <a:effectLst/>
                <a:latin typeface="Arial" panose="020B0604020202020204" pitchFamily="34" charset="0"/>
              </a:rPr>
              <a:t>~2 minutes</a:t>
            </a:r>
            <a:r>
              <a:rPr kumimoji="0" lang="en-US" altLang="en-US" sz="1800" b="0" i="0" u="none" strike="noStrike" cap="none" normalizeH="0" baseline="0" dirty="0">
                <a:ln>
                  <a:noFill/>
                </a:ln>
                <a:solidFill>
                  <a:schemeClr val="tx1"/>
                </a:solidFill>
                <a:effectLst/>
                <a:latin typeface="Arial" panose="020B0604020202020204" pitchFamily="34" charset="0"/>
              </a:rPr>
              <a:t> (automated demo).</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Automation coverage:</a:t>
            </a:r>
            <a:r>
              <a:rPr kumimoji="0" lang="en-US" altLang="en-US" sz="1800" b="0" i="0" u="none" strike="noStrike" cap="none" normalizeH="0" baseline="0" dirty="0">
                <a:ln>
                  <a:noFill/>
                </a:ln>
                <a:solidFill>
                  <a:schemeClr val="tx1"/>
                </a:solidFill>
                <a:effectLst/>
                <a:latin typeface="Arial" panose="020B0604020202020204" pitchFamily="34" charset="0"/>
              </a:rPr>
              <a:t> Target </a:t>
            </a:r>
            <a:r>
              <a:rPr kumimoji="0" lang="en-US" altLang="en-US" sz="1800" b="1" i="0" u="none" strike="noStrike" cap="none" normalizeH="0" baseline="0" dirty="0">
                <a:ln>
                  <a:noFill/>
                </a:ln>
                <a:solidFill>
                  <a:schemeClr val="tx1"/>
                </a:solidFill>
                <a:effectLst/>
                <a:latin typeface="Arial" panose="020B0604020202020204" pitchFamily="34" charset="0"/>
              </a:rPr>
              <a:t>≥ 80%</a:t>
            </a:r>
            <a:r>
              <a:rPr kumimoji="0" lang="en-US" altLang="en-US" sz="1800" b="0" i="0" u="none" strike="noStrike" cap="none" normalizeH="0" baseline="0" dirty="0">
                <a:ln>
                  <a:noFill/>
                </a:ln>
                <a:solidFill>
                  <a:schemeClr val="tx1"/>
                </a:solidFill>
                <a:effectLst/>
                <a:latin typeface="Arial" panose="020B0604020202020204" pitchFamily="34" charset="0"/>
              </a:rPr>
              <a:t> of standard personal loan cases.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Customer completion rate:</a:t>
            </a:r>
            <a:r>
              <a:rPr kumimoji="0" lang="en-US" altLang="en-US" sz="1800" b="0" i="0" u="none" strike="noStrike" cap="none" normalizeH="0" baseline="0" dirty="0">
                <a:ln>
                  <a:noFill/>
                </a:ln>
                <a:solidFill>
                  <a:schemeClr val="tx1"/>
                </a:solidFill>
                <a:effectLst/>
                <a:latin typeface="Arial" panose="020B0604020202020204" pitchFamily="34" charset="0"/>
              </a:rPr>
              <a:t> Expected uplift </a:t>
            </a:r>
            <a:r>
              <a:rPr kumimoji="0" lang="en-US" altLang="en-US" sz="1800" b="1" i="0" u="none" strike="noStrike" cap="none" normalizeH="0" baseline="0" dirty="0">
                <a:ln>
                  <a:noFill/>
                </a:ln>
                <a:solidFill>
                  <a:schemeClr val="tx1"/>
                </a:solidFill>
                <a:effectLst/>
                <a:latin typeface="Arial" panose="020B0604020202020204" pitchFamily="34" charset="0"/>
              </a:rPr>
              <a:t>+25–40%</a:t>
            </a:r>
            <a:r>
              <a:rPr kumimoji="0" lang="en-US" altLang="en-US" sz="1800" b="0" i="0" u="none" strike="noStrike" cap="none" normalizeH="0" baseline="0" dirty="0">
                <a:ln>
                  <a:noFill/>
                </a:ln>
                <a:solidFill>
                  <a:schemeClr val="tx1"/>
                </a:solidFill>
                <a:effectLst/>
                <a:latin typeface="Arial" panose="020B0604020202020204" pitchFamily="34" charset="0"/>
              </a:rPr>
              <a:t> with proactive nudges.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Auditability:</a:t>
            </a:r>
            <a:r>
              <a:rPr kumimoji="0" lang="en-US" altLang="en-US" sz="1800" b="0" i="0" u="none" strike="noStrike" cap="none" normalizeH="0" baseline="0" dirty="0">
                <a:ln>
                  <a:noFill/>
                </a:ln>
                <a:solidFill>
                  <a:schemeClr val="tx1"/>
                </a:solidFill>
                <a:effectLst/>
                <a:latin typeface="Arial" panose="020B0604020202020204" pitchFamily="34" charset="0"/>
              </a:rPr>
              <a:t> Decision logs and PDF outputs for compliance.</a:t>
            </a:r>
          </a:p>
        </p:txBody>
      </p:sp>
      <p:sp>
        <p:nvSpPr>
          <p:cNvPr id="7" name="TextBox 6">
            <a:extLst>
              <a:ext uri="{FF2B5EF4-FFF2-40B4-BE49-F238E27FC236}">
                <a16:creationId xmlns:a16="http://schemas.microsoft.com/office/drawing/2014/main" id="{8A89576F-5472-46CD-B38E-3B369B9280E0}"/>
              </a:ext>
            </a:extLst>
          </p:cNvPr>
          <p:cNvSpPr txBox="1"/>
          <p:nvPr/>
        </p:nvSpPr>
        <p:spPr>
          <a:xfrm>
            <a:off x="0" y="2124048"/>
            <a:ext cx="9153832" cy="3139321"/>
          </a:xfrm>
          <a:prstGeom prst="rect">
            <a:avLst/>
          </a:prstGeom>
          <a:noFill/>
        </p:spPr>
        <p:txBody>
          <a:bodyPr wrap="square">
            <a:spAutoFit/>
          </a:bodyPr>
          <a:lstStyle/>
          <a:p>
            <a:pPr>
              <a:buNone/>
            </a:pPr>
            <a:r>
              <a:rPr lang="en-IN" b="1" dirty="0"/>
              <a:t>Roadmap (3 short phases):</a:t>
            </a:r>
            <a:endParaRPr lang="en-IN" dirty="0"/>
          </a:p>
          <a:p>
            <a:pPr>
              <a:buFont typeface="Arial" panose="020B0604020202020204" pitchFamily="34" charset="0"/>
              <a:buChar char="•"/>
            </a:pPr>
            <a:r>
              <a:rPr lang="en-IN" b="1" dirty="0"/>
              <a:t>Phase 1 (Hackathon MVP):</a:t>
            </a:r>
            <a:r>
              <a:rPr lang="en-IN" dirty="0"/>
              <a:t> Chat UI, mock data, rule engine, PDF generation.</a:t>
            </a:r>
          </a:p>
          <a:p>
            <a:pPr>
              <a:buFont typeface="Arial" panose="020B0604020202020204" pitchFamily="34" charset="0"/>
              <a:buChar char="•"/>
            </a:pPr>
            <a:r>
              <a:rPr lang="en-IN" b="1" dirty="0"/>
              <a:t>Phase 2 (Pilot):</a:t>
            </a:r>
            <a:r>
              <a:rPr lang="en-IN" dirty="0"/>
              <a:t> Replace mock APIs with sandbox credit bureau and CRM; add session persistence and email/SMS notifications.</a:t>
            </a:r>
          </a:p>
          <a:p>
            <a:pPr>
              <a:buFont typeface="Arial" panose="020B0604020202020204" pitchFamily="34" charset="0"/>
              <a:buChar char="•"/>
            </a:pPr>
            <a:r>
              <a:rPr lang="en-IN" b="1" dirty="0"/>
              <a:t>Phase 3 (Production):</a:t>
            </a:r>
            <a:r>
              <a:rPr lang="en-IN" dirty="0"/>
              <a:t> Integrate real KYC/credit providers, scale via containerized microservices, add analytics and human handoff.</a:t>
            </a:r>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IN" dirty="0"/>
          </a:p>
          <a:p>
            <a:pPr>
              <a:buFont typeface="Arial" panose="020B0604020202020204" pitchFamily="34" charset="0"/>
              <a:buChar char="•"/>
            </a:pPr>
            <a:endParaRPr lang="en-IN" dirty="0"/>
          </a:p>
        </p:txBody>
      </p:sp>
      <p:sp>
        <p:nvSpPr>
          <p:cNvPr id="9" name="TextBox 8">
            <a:extLst>
              <a:ext uri="{FF2B5EF4-FFF2-40B4-BE49-F238E27FC236}">
                <a16:creationId xmlns:a16="http://schemas.microsoft.com/office/drawing/2014/main" id="{7B1613B5-ACB4-3A50-0D0E-879FDE907325}"/>
              </a:ext>
            </a:extLst>
          </p:cNvPr>
          <p:cNvSpPr txBox="1"/>
          <p:nvPr/>
        </p:nvSpPr>
        <p:spPr>
          <a:xfrm>
            <a:off x="117987" y="3878374"/>
            <a:ext cx="9153832" cy="923330"/>
          </a:xfrm>
          <a:prstGeom prst="rect">
            <a:avLst/>
          </a:prstGeom>
          <a:noFill/>
        </p:spPr>
        <p:txBody>
          <a:bodyPr wrap="square">
            <a:spAutoFit/>
          </a:bodyPr>
          <a:lstStyle/>
          <a:p>
            <a:pPr>
              <a:buNone/>
            </a:pPr>
            <a:r>
              <a:rPr lang="en-US" dirty="0"/>
              <a:t>Outcome: a demonstrable, explainable, and modular Agentic AI solution that accelerates loan sales, improves customer experience, and reduces operational cost.”</a:t>
            </a:r>
          </a:p>
        </p:txBody>
      </p:sp>
    </p:spTree>
    <p:extLst>
      <p:ext uri="{BB962C8B-B14F-4D97-AF65-F5344CB8AC3E}">
        <p14:creationId xmlns:p14="http://schemas.microsoft.com/office/powerpoint/2010/main" val="24884245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Diagram 1">
            <a:extLst>
              <a:ext uri="{FF2B5EF4-FFF2-40B4-BE49-F238E27FC236}">
                <a16:creationId xmlns:a16="http://schemas.microsoft.com/office/drawing/2014/main" id="{B83E06EE-5EE9-FFD5-0C36-E435BA278C70}"/>
              </a:ext>
            </a:extLst>
          </p:cNvPr>
          <p:cNvGraphicFramePr/>
          <p:nvPr>
            <p:extLst>
              <p:ext uri="{D42A27DB-BD31-4B8C-83A1-F6EECF244321}">
                <p14:modId xmlns:p14="http://schemas.microsoft.com/office/powerpoint/2010/main" val="4093339476"/>
              </p:ext>
            </p:extLst>
          </p:nvPr>
        </p:nvGraphicFramePr>
        <p:xfrm>
          <a:off x="2032000" y="719666"/>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020411"/>
      </p:ext>
    </p:extLst>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docProps/app.xml><?xml version="1.0" encoding="utf-8"?>
<Properties xmlns="http://schemas.openxmlformats.org/officeDocument/2006/extended-properties" xmlns:vt="http://schemas.openxmlformats.org/officeDocument/2006/docPropsVTypes">
  <Template>Slice</Template>
  <TotalTime>99</TotalTime>
  <Words>832</Words>
  <Application>Microsoft Office PowerPoint</Application>
  <PresentationFormat>Widescreen</PresentationFormat>
  <Paragraphs>48</Paragraphs>
  <Slides>7</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vt:i4>
      </vt:variant>
    </vt:vector>
  </HeadingPairs>
  <TitlesOfParts>
    <vt:vector size="15" baseType="lpstr">
      <vt:lpstr>Adobe Arabic</vt:lpstr>
      <vt:lpstr>Adobe Caslon Pro Bold</vt:lpstr>
      <vt:lpstr>Adobe Devanagari</vt:lpstr>
      <vt:lpstr>Adobe Gothic Std B</vt:lpstr>
      <vt:lpstr>Arial</vt:lpstr>
      <vt:lpstr>Century Gothic</vt:lpstr>
      <vt:lpstr>Wingdings 3</vt:lpstr>
      <vt:lpstr>Slice</vt:lpstr>
      <vt:lpstr>AI-Driven Loan Sales Chatbot for Tata Capital</vt:lpstr>
      <vt:lpstr>PowerPoint Presentation</vt:lpstr>
      <vt:lpstr>Customer Journey — From Chat to Sanction  1] Customer lands on chat (web/mobile/WhatsApp). 2]  Bot collects basic info: name, phone, loan amount, tenure. 3]  Bot checks pre-approved offers and asks simple qualifying questions 4]  if required, bot requests document upload (salary slip, ID). 5]  Verification Agent validates KYC and documents via mock CRM/APIs. 6]  Underwriting Agent checks credit score and applies eligibility rules. 7]  If approved, Sanction Agent generates sanction letter (PDF) and sends download link. 8]  If rejected, bot provides reason and next steps (appeal/alternate products).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sravya reddy</dc:creator>
  <cp:lastModifiedBy>FLARANCE RANI NANDIGAMA</cp:lastModifiedBy>
  <cp:revision>1</cp:revision>
  <dcterms:created xsi:type="dcterms:W3CDTF">2025-10-15T17:12:12Z</dcterms:created>
  <dcterms:modified xsi:type="dcterms:W3CDTF">2025-12-10T14:10:11Z</dcterms:modified>
</cp:coreProperties>
</file>