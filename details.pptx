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handoutMasterIdLst>
    <p:handoutMasterId r:id="rId18"/>
  </p:handoutMasterIdLst>
  <p:sldIdLst>
    <p:sldId id="317" r:id="rId5"/>
    <p:sldId id="319" r:id="rId6"/>
    <p:sldId id="308" r:id="rId7"/>
    <p:sldId id="309" r:id="rId8"/>
    <p:sldId id="310" r:id="rId9"/>
    <p:sldId id="311" r:id="rId10"/>
    <p:sldId id="312" r:id="rId11"/>
    <p:sldId id="316" r:id="rId12"/>
    <p:sldId id="314" r:id="rId13"/>
    <p:sldId id="315" r:id="rId14"/>
    <p:sldId id="318" r:id="rId15"/>
    <p:sldId id="304"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47A67A-218B-4A75-BD0E-4221C84E7DF2}" v="112" dt="2026-02-09T16:29:45.512"/>
  </p1510:revLst>
</p1510:revInfo>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8" d="100"/>
          <a:sy n="78" d="100"/>
        </p:scale>
        <p:origin x="878" y="43"/>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ARANCE RANI NANDIGAMA" userId="b3d77f15598b4666" providerId="LiveId" clId="{DF5D78F1-2D58-457E-B6B0-13EE6C64BC8B}"/>
    <pc:docChg chg="undo redo custSel addSld delSld modSld">
      <pc:chgData name="FLARANCE RANI NANDIGAMA" userId="b3d77f15598b4666" providerId="LiveId" clId="{DF5D78F1-2D58-457E-B6B0-13EE6C64BC8B}" dt="2026-02-09T16:30:21.979" v="1604" actId="1076"/>
      <pc:docMkLst>
        <pc:docMk/>
      </pc:docMkLst>
      <pc:sldChg chg="addSp delSp modSp new mod modTransition modAnim">
        <pc:chgData name="FLARANCE RANI NANDIGAMA" userId="b3d77f15598b4666" providerId="LiveId" clId="{DF5D78F1-2D58-457E-B6B0-13EE6C64BC8B}" dt="2026-02-09T16:30:21.979" v="1604" actId="1076"/>
        <pc:sldMkLst>
          <pc:docMk/>
          <pc:sldMk cId="1926650175" sldId="319"/>
        </pc:sldMkLst>
        <pc:spChg chg="mod">
          <ac:chgData name="FLARANCE RANI NANDIGAMA" userId="b3d77f15598b4666" providerId="LiveId" clId="{DF5D78F1-2D58-457E-B6B0-13EE6C64BC8B}" dt="2026-02-09T16:30:21.979" v="1604" actId="1076"/>
          <ac:spMkLst>
            <pc:docMk/>
            <pc:sldMk cId="1926650175" sldId="319"/>
            <ac:spMk id="7" creationId="{F6C3FB73-DB9F-FA03-36DC-3EC9ADF6DDB0}"/>
          </ac:spMkLst>
        </pc:spChg>
        <pc:spChg chg="mod">
          <ac:chgData name="FLARANCE RANI NANDIGAMA" userId="b3d77f15598b4666" providerId="LiveId" clId="{DF5D78F1-2D58-457E-B6B0-13EE6C64BC8B}" dt="2026-02-09T16:30:02.083" v="1600" actId="1076"/>
          <ac:spMkLst>
            <pc:docMk/>
            <pc:sldMk cId="1926650175" sldId="319"/>
            <ac:spMk id="8" creationId="{D3170F1F-7B61-38F2-68AD-E5B5CD1817F3}"/>
          </ac:spMkLst>
        </pc:spChg>
        <pc:spChg chg="mod">
          <ac:chgData name="FLARANCE RANI NANDIGAMA" userId="b3d77f15598b4666" providerId="LiveId" clId="{DF5D78F1-2D58-457E-B6B0-13EE6C64BC8B}" dt="2026-02-09T16:30:09.306" v="1601" actId="1076"/>
          <ac:spMkLst>
            <pc:docMk/>
            <pc:sldMk cId="1926650175" sldId="319"/>
            <ac:spMk id="9" creationId="{7C7AF691-6B11-E2BB-DB78-F7B0F30C1F67}"/>
          </ac:spMkLst>
        </pc:spChg>
        <pc:spChg chg="mod">
          <ac:chgData name="FLARANCE RANI NANDIGAMA" userId="b3d77f15598b4666" providerId="LiveId" clId="{DF5D78F1-2D58-457E-B6B0-13EE6C64BC8B}" dt="2026-02-09T16:30:13.576" v="1602" actId="1076"/>
          <ac:spMkLst>
            <pc:docMk/>
            <pc:sldMk cId="1926650175" sldId="319"/>
            <ac:spMk id="10" creationId="{1B98EE9D-05E0-6CB3-7EDD-CFD1DDB82553}"/>
          </ac:spMkLst>
        </pc:spChg>
        <pc:spChg chg="mod">
          <ac:chgData name="FLARANCE RANI NANDIGAMA" userId="b3d77f15598b4666" providerId="LiveId" clId="{DF5D78F1-2D58-457E-B6B0-13EE6C64BC8B}" dt="2026-02-09T16:30:18.652" v="1603" actId="1076"/>
          <ac:spMkLst>
            <pc:docMk/>
            <pc:sldMk cId="1926650175" sldId="319"/>
            <ac:spMk id="12" creationId="{4B6259F5-8C4B-8AD6-B494-F8A894B7EB41}"/>
          </ac:spMkLst>
        </pc:spChg>
        <pc:picChg chg="add del mod">
          <ac:chgData name="FLARANCE RANI NANDIGAMA" userId="b3d77f15598b4666" providerId="LiveId" clId="{DF5D78F1-2D58-457E-B6B0-13EE6C64BC8B}" dt="2026-02-09T16:29:15.974" v="1593" actId="478"/>
          <ac:picMkLst>
            <pc:docMk/>
            <pc:sldMk cId="1926650175" sldId="319"/>
            <ac:picMk id="4" creationId="{5D83B366-AF59-2637-1BE3-4F42AA67420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1FA3C9-1635-4C6B-B4C2-F27471459717}" type="doc">
      <dgm:prSet loTypeId="urn:microsoft.com/office/officeart/2005/8/layout/chevron2" loCatId="process" qsTypeId="urn:microsoft.com/office/officeart/2005/8/quickstyle/3d3" qsCatId="3D" csTypeId="urn:microsoft.com/office/officeart/2005/8/colors/colorful1" csCatId="colorful" phldr="1"/>
      <dgm:spPr/>
      <dgm:t>
        <a:bodyPr/>
        <a:lstStyle/>
        <a:p>
          <a:endParaRPr lang="en-IN"/>
        </a:p>
      </dgm:t>
    </dgm:pt>
    <dgm:pt modelId="{0F174942-3759-41D2-8976-77C05CF1EDC6}">
      <dgm:prSet phldrT="[Text]" phldr="0"/>
      <dgm:spPr/>
      <dgm:t>
        <a:bodyPr/>
        <a:lstStyle/>
        <a:p>
          <a:r>
            <a:rPr lang="en-US" dirty="0"/>
            <a:t>Assumptions</a:t>
          </a:r>
          <a:endParaRPr lang="en-IN" dirty="0"/>
        </a:p>
      </dgm:t>
    </dgm:pt>
    <dgm:pt modelId="{516158AF-1B6C-40C8-8BF5-ACD3238AC02E}" type="parTrans" cxnId="{638DC855-6D53-4CD8-B627-A5AA04A5CF13}">
      <dgm:prSet/>
      <dgm:spPr/>
      <dgm:t>
        <a:bodyPr/>
        <a:lstStyle/>
        <a:p>
          <a:endParaRPr lang="en-IN"/>
        </a:p>
      </dgm:t>
    </dgm:pt>
    <dgm:pt modelId="{D2274B47-ADA0-4B74-A84D-794B78B69222}" type="sibTrans" cxnId="{638DC855-6D53-4CD8-B627-A5AA04A5CF13}">
      <dgm:prSet/>
      <dgm:spPr/>
      <dgm:t>
        <a:bodyPr/>
        <a:lstStyle/>
        <a:p>
          <a:endParaRPr lang="en-IN"/>
        </a:p>
      </dgm:t>
    </dgm:pt>
    <dgm:pt modelId="{098D5974-3C46-45E3-9AE0-1A9DEDEC6B9B}">
      <dgm:prSet phldrT="[Text]" phldr="0"/>
      <dgm:spPr/>
      <dgm:t>
        <a:bodyPr/>
        <a:lstStyle/>
        <a:p>
          <a:r>
            <a:rPr lang="en-US" dirty="0"/>
            <a:t>Mock data sufficiently represents CRM/KYC environment</a:t>
          </a:r>
          <a:endParaRPr lang="en-IN" dirty="0"/>
        </a:p>
      </dgm:t>
    </dgm:pt>
    <dgm:pt modelId="{C0870F72-7ACE-4093-A09C-85A0E2B179C3}" type="parTrans" cxnId="{30D58790-5BDD-409C-B3AF-2D8319D95BAB}">
      <dgm:prSet/>
      <dgm:spPr/>
      <dgm:t>
        <a:bodyPr/>
        <a:lstStyle/>
        <a:p>
          <a:endParaRPr lang="en-IN"/>
        </a:p>
      </dgm:t>
    </dgm:pt>
    <dgm:pt modelId="{C14904BA-0689-439B-9240-441E875ED0AA}" type="sibTrans" cxnId="{30D58790-5BDD-409C-B3AF-2D8319D95BAB}">
      <dgm:prSet/>
      <dgm:spPr/>
      <dgm:t>
        <a:bodyPr/>
        <a:lstStyle/>
        <a:p>
          <a:endParaRPr lang="en-IN"/>
        </a:p>
      </dgm:t>
    </dgm:pt>
    <dgm:pt modelId="{843E0849-2A2C-4BB7-8F56-F841CDCF9124}">
      <dgm:prSet phldrT="[Text]" phldr="0"/>
      <dgm:spPr/>
      <dgm:t>
        <a:bodyPr/>
        <a:lstStyle/>
        <a:p>
          <a:r>
            <a:rPr lang="en-US" dirty="0"/>
            <a:t>Document uploaded are in supported formats</a:t>
          </a:r>
          <a:endParaRPr lang="en-IN" dirty="0"/>
        </a:p>
      </dgm:t>
    </dgm:pt>
    <dgm:pt modelId="{1646B335-8F0E-467E-BA3D-54089DDFF3B5}" type="parTrans" cxnId="{646EA810-4BD0-4507-9598-9B3B49E2EB9C}">
      <dgm:prSet/>
      <dgm:spPr/>
      <dgm:t>
        <a:bodyPr/>
        <a:lstStyle/>
        <a:p>
          <a:endParaRPr lang="en-IN"/>
        </a:p>
      </dgm:t>
    </dgm:pt>
    <dgm:pt modelId="{FBAE660E-3644-44AA-9ABB-B1F21AB7D1F6}" type="sibTrans" cxnId="{646EA810-4BD0-4507-9598-9B3B49E2EB9C}">
      <dgm:prSet/>
      <dgm:spPr/>
      <dgm:t>
        <a:bodyPr/>
        <a:lstStyle/>
        <a:p>
          <a:endParaRPr lang="en-IN"/>
        </a:p>
      </dgm:t>
    </dgm:pt>
    <dgm:pt modelId="{52EC9340-9B74-4311-AA1A-2774FE3EA32C}">
      <dgm:prSet phldrT="[Text]" phldr="0"/>
      <dgm:spPr/>
      <dgm:t>
        <a:bodyPr/>
        <a:lstStyle/>
        <a:p>
          <a:r>
            <a:rPr lang="en-US" dirty="0"/>
            <a:t>Constraints</a:t>
          </a:r>
          <a:endParaRPr lang="en-IN" dirty="0"/>
        </a:p>
      </dgm:t>
    </dgm:pt>
    <dgm:pt modelId="{E7F03A50-CC41-4D34-8B8E-E62C480EE491}" type="parTrans" cxnId="{A75B1EB0-9076-492A-81AC-DD3A1958485C}">
      <dgm:prSet/>
      <dgm:spPr/>
      <dgm:t>
        <a:bodyPr/>
        <a:lstStyle/>
        <a:p>
          <a:endParaRPr lang="en-IN"/>
        </a:p>
      </dgm:t>
    </dgm:pt>
    <dgm:pt modelId="{29C253A5-AB73-419E-A204-087AAF9FC686}" type="sibTrans" cxnId="{A75B1EB0-9076-492A-81AC-DD3A1958485C}">
      <dgm:prSet/>
      <dgm:spPr/>
      <dgm:t>
        <a:bodyPr/>
        <a:lstStyle/>
        <a:p>
          <a:endParaRPr lang="en-IN"/>
        </a:p>
      </dgm:t>
    </dgm:pt>
    <dgm:pt modelId="{22640544-7793-4A63-9BAE-870DEAA9D278}">
      <dgm:prSet phldrT="[Text]" phldr="0"/>
      <dgm:spPr/>
      <dgm:t>
        <a:bodyPr/>
        <a:lstStyle/>
        <a:p>
          <a:r>
            <a:rPr lang="en-US" dirty="0"/>
            <a:t>No access to real bureau APIs</a:t>
          </a:r>
          <a:endParaRPr lang="en-IN" dirty="0"/>
        </a:p>
      </dgm:t>
    </dgm:pt>
    <dgm:pt modelId="{50790550-9C37-4376-8D88-E846DD0DB67D}" type="parTrans" cxnId="{0154F5B6-639A-4E22-9F52-BCF70EA3895D}">
      <dgm:prSet/>
      <dgm:spPr/>
      <dgm:t>
        <a:bodyPr/>
        <a:lstStyle/>
        <a:p>
          <a:endParaRPr lang="en-IN"/>
        </a:p>
      </dgm:t>
    </dgm:pt>
    <dgm:pt modelId="{C38FC895-043E-478E-85A6-5712A87E9C49}" type="sibTrans" cxnId="{0154F5B6-639A-4E22-9F52-BCF70EA3895D}">
      <dgm:prSet/>
      <dgm:spPr/>
      <dgm:t>
        <a:bodyPr/>
        <a:lstStyle/>
        <a:p>
          <a:endParaRPr lang="en-IN"/>
        </a:p>
      </dgm:t>
    </dgm:pt>
    <dgm:pt modelId="{73FD4347-996F-47B0-A605-A60CDC253FEA}">
      <dgm:prSet phldrT="[Text]" phldr="0"/>
      <dgm:spPr/>
      <dgm:t>
        <a:bodyPr/>
        <a:lstStyle/>
        <a:p>
          <a:r>
            <a:rPr lang="en-US" dirty="0"/>
            <a:t>Only mock credit scores used</a:t>
          </a:r>
          <a:endParaRPr lang="en-IN" dirty="0"/>
        </a:p>
      </dgm:t>
    </dgm:pt>
    <dgm:pt modelId="{4CF50975-2771-4E12-A1A8-A4A25B1C20E4}" type="parTrans" cxnId="{379E94B7-376E-4E5D-8CB8-E6C518B2813A}">
      <dgm:prSet/>
      <dgm:spPr/>
      <dgm:t>
        <a:bodyPr/>
        <a:lstStyle/>
        <a:p>
          <a:endParaRPr lang="en-IN"/>
        </a:p>
      </dgm:t>
    </dgm:pt>
    <dgm:pt modelId="{D2CB3457-B840-4864-BFAE-FF13BE5A735A}" type="sibTrans" cxnId="{379E94B7-376E-4E5D-8CB8-E6C518B2813A}">
      <dgm:prSet/>
      <dgm:spPr/>
      <dgm:t>
        <a:bodyPr/>
        <a:lstStyle/>
        <a:p>
          <a:endParaRPr lang="en-IN"/>
        </a:p>
      </dgm:t>
    </dgm:pt>
    <dgm:pt modelId="{6F5AEECD-B468-4183-BC61-EC817219C11F}">
      <dgm:prSet phldrT="[Text]" phldr="0"/>
      <dgm:spPr/>
      <dgm:t>
        <a:bodyPr/>
        <a:lstStyle/>
        <a:p>
          <a:r>
            <a:rPr lang="en-US" dirty="0"/>
            <a:t>Decision Points</a:t>
          </a:r>
          <a:endParaRPr lang="en-IN" dirty="0"/>
        </a:p>
      </dgm:t>
    </dgm:pt>
    <dgm:pt modelId="{22230D74-6512-4A76-BA57-9BA1157360A6}" type="parTrans" cxnId="{908BC53D-6989-4CDE-89F0-FB31B9E417D3}">
      <dgm:prSet/>
      <dgm:spPr/>
      <dgm:t>
        <a:bodyPr/>
        <a:lstStyle/>
        <a:p>
          <a:endParaRPr lang="en-IN"/>
        </a:p>
      </dgm:t>
    </dgm:pt>
    <dgm:pt modelId="{8610E34E-C51B-447B-A3D0-63A10267FE7E}" type="sibTrans" cxnId="{908BC53D-6989-4CDE-89F0-FB31B9E417D3}">
      <dgm:prSet/>
      <dgm:spPr/>
      <dgm:t>
        <a:bodyPr/>
        <a:lstStyle/>
        <a:p>
          <a:endParaRPr lang="en-IN"/>
        </a:p>
      </dgm:t>
    </dgm:pt>
    <dgm:pt modelId="{C9EBD838-367F-4010-A18E-AAD550DD521D}">
      <dgm:prSet phldrT="[Text]" phldr="0"/>
      <dgm:spPr/>
      <dgm:t>
        <a:bodyPr/>
        <a:lstStyle/>
        <a:p>
          <a:r>
            <a:rPr lang="en-US" dirty="0"/>
            <a:t>Rule-engine style eligibility (no ML due to time constraints)</a:t>
          </a:r>
          <a:endParaRPr lang="en-IN" dirty="0"/>
        </a:p>
      </dgm:t>
    </dgm:pt>
    <dgm:pt modelId="{D6EA2DC3-987E-4E37-AC51-72E1ADD1050F}" type="parTrans" cxnId="{F464381B-A76C-423F-B921-8FB0FF0B54A9}">
      <dgm:prSet/>
      <dgm:spPr/>
      <dgm:t>
        <a:bodyPr/>
        <a:lstStyle/>
        <a:p>
          <a:endParaRPr lang="en-IN"/>
        </a:p>
      </dgm:t>
    </dgm:pt>
    <dgm:pt modelId="{47CD682F-782D-4E4B-B63E-61AD39D49703}" type="sibTrans" cxnId="{F464381B-A76C-423F-B921-8FB0FF0B54A9}">
      <dgm:prSet/>
      <dgm:spPr/>
      <dgm:t>
        <a:bodyPr/>
        <a:lstStyle/>
        <a:p>
          <a:endParaRPr lang="en-IN"/>
        </a:p>
      </dgm:t>
    </dgm:pt>
    <dgm:pt modelId="{19B5CC83-CFC9-4837-945E-C43A94F8F483}">
      <dgm:prSet phldrT="[Text]" phldr="0"/>
      <dgm:spPr/>
      <dgm:t>
        <a:bodyPr/>
        <a:lstStyle/>
        <a:p>
          <a:r>
            <a:rPr lang="en-US" dirty="0"/>
            <a:t>Agentic architecture chosen for modularity</a:t>
          </a:r>
          <a:endParaRPr lang="en-IN" dirty="0"/>
        </a:p>
      </dgm:t>
    </dgm:pt>
    <dgm:pt modelId="{A5D71334-9D75-4826-B938-08F9E95F52E9}" type="sibTrans" cxnId="{85D43D7C-4FB8-4EFA-80BB-472DAD8CDCCB}">
      <dgm:prSet/>
      <dgm:spPr/>
      <dgm:t>
        <a:bodyPr/>
        <a:lstStyle/>
        <a:p>
          <a:endParaRPr lang="en-IN"/>
        </a:p>
      </dgm:t>
    </dgm:pt>
    <dgm:pt modelId="{6DB505D3-C181-4807-8DB7-382414873100}" type="parTrans" cxnId="{85D43D7C-4FB8-4EFA-80BB-472DAD8CDCCB}">
      <dgm:prSet/>
      <dgm:spPr/>
      <dgm:t>
        <a:bodyPr/>
        <a:lstStyle/>
        <a:p>
          <a:endParaRPr lang="en-IN"/>
        </a:p>
      </dgm:t>
    </dgm:pt>
    <dgm:pt modelId="{4A35140D-A316-4DC6-8460-7F1FC1FE054D}">
      <dgm:prSet phldrT="[Text]" phldr="0"/>
      <dgm:spPr/>
      <dgm:t>
        <a:bodyPr/>
        <a:lstStyle/>
        <a:p>
          <a:r>
            <a:rPr lang="en-US" dirty="0"/>
            <a:t>Rule engine ensures explainable decisions</a:t>
          </a:r>
          <a:endParaRPr lang="en-IN" dirty="0"/>
        </a:p>
      </dgm:t>
    </dgm:pt>
    <dgm:pt modelId="{E5F70048-D4E8-40F6-8F45-0E4AD800791C}" type="sibTrans" cxnId="{01D98CF6-0CB8-4AE2-B134-9491B5334AF9}">
      <dgm:prSet/>
      <dgm:spPr/>
      <dgm:t>
        <a:bodyPr/>
        <a:lstStyle/>
        <a:p>
          <a:endParaRPr lang="en-IN"/>
        </a:p>
      </dgm:t>
    </dgm:pt>
    <dgm:pt modelId="{C63A4D10-4DAA-4DC0-A42B-88874B12A67B}" type="parTrans" cxnId="{01D98CF6-0CB8-4AE2-B134-9491B5334AF9}">
      <dgm:prSet/>
      <dgm:spPr/>
      <dgm:t>
        <a:bodyPr/>
        <a:lstStyle/>
        <a:p>
          <a:endParaRPr lang="en-IN"/>
        </a:p>
      </dgm:t>
    </dgm:pt>
    <dgm:pt modelId="{AF704C74-DED0-40B5-8956-98227D23019F}">
      <dgm:prSet phldrT="[Text]" phldr="0"/>
      <dgm:spPr/>
      <dgm:t>
        <a:bodyPr/>
        <a:lstStyle/>
        <a:p>
          <a:r>
            <a:rPr lang="en-US" dirty="0" err="1"/>
            <a:t>Streamlit</a:t>
          </a:r>
          <a:r>
            <a:rPr lang="en-US" dirty="0"/>
            <a:t> selected for fastest demo-ready UI</a:t>
          </a:r>
          <a:endParaRPr lang="en-IN" dirty="0"/>
        </a:p>
      </dgm:t>
    </dgm:pt>
    <dgm:pt modelId="{7E3C39B2-0D86-4197-A2C2-D5C71E9B6C1E}" type="parTrans" cxnId="{05EA9ACE-022E-4DE5-9317-C9730E176551}">
      <dgm:prSet/>
      <dgm:spPr/>
      <dgm:t>
        <a:bodyPr/>
        <a:lstStyle/>
        <a:p>
          <a:endParaRPr lang="en-IN"/>
        </a:p>
      </dgm:t>
    </dgm:pt>
    <dgm:pt modelId="{A28C81B2-A73F-4E3B-9756-4DC08748D32E}" type="sibTrans" cxnId="{05EA9ACE-022E-4DE5-9317-C9730E176551}">
      <dgm:prSet/>
      <dgm:spPr/>
      <dgm:t>
        <a:bodyPr/>
        <a:lstStyle/>
        <a:p>
          <a:endParaRPr lang="en-IN"/>
        </a:p>
      </dgm:t>
    </dgm:pt>
    <dgm:pt modelId="{0F52A2D9-4A9D-4D44-9E23-AB9E05BC587E}" type="pres">
      <dgm:prSet presAssocID="{341FA3C9-1635-4C6B-B4C2-F27471459717}" presName="linearFlow" presStyleCnt="0">
        <dgm:presLayoutVars>
          <dgm:dir/>
          <dgm:animLvl val="lvl"/>
          <dgm:resizeHandles val="exact"/>
        </dgm:presLayoutVars>
      </dgm:prSet>
      <dgm:spPr/>
    </dgm:pt>
    <dgm:pt modelId="{859F026A-8109-4CA1-B460-18285A9936C9}" type="pres">
      <dgm:prSet presAssocID="{0F174942-3759-41D2-8976-77C05CF1EDC6}" presName="composite" presStyleCnt="0"/>
      <dgm:spPr/>
    </dgm:pt>
    <dgm:pt modelId="{7E6FC8B7-1A2B-4E1A-8ACD-A88D883AA589}" type="pres">
      <dgm:prSet presAssocID="{0F174942-3759-41D2-8976-77C05CF1EDC6}" presName="parentText" presStyleLbl="alignNode1" presStyleIdx="0" presStyleCnt="3">
        <dgm:presLayoutVars>
          <dgm:chMax val="1"/>
          <dgm:bulletEnabled val="1"/>
        </dgm:presLayoutVars>
      </dgm:prSet>
      <dgm:spPr/>
    </dgm:pt>
    <dgm:pt modelId="{66416A9C-2EE9-465F-A93A-A7FA72D10FDC}" type="pres">
      <dgm:prSet presAssocID="{0F174942-3759-41D2-8976-77C05CF1EDC6}" presName="descendantText" presStyleLbl="alignAcc1" presStyleIdx="0" presStyleCnt="3">
        <dgm:presLayoutVars>
          <dgm:bulletEnabled val="1"/>
        </dgm:presLayoutVars>
      </dgm:prSet>
      <dgm:spPr/>
    </dgm:pt>
    <dgm:pt modelId="{BB93A7B9-DE4B-4238-A5B1-B32E4927EDF9}" type="pres">
      <dgm:prSet presAssocID="{D2274B47-ADA0-4B74-A84D-794B78B69222}" presName="sp" presStyleCnt="0"/>
      <dgm:spPr/>
    </dgm:pt>
    <dgm:pt modelId="{DA0B0E72-A216-4C3C-9774-16F71821BEB7}" type="pres">
      <dgm:prSet presAssocID="{52EC9340-9B74-4311-AA1A-2774FE3EA32C}" presName="composite" presStyleCnt="0"/>
      <dgm:spPr/>
    </dgm:pt>
    <dgm:pt modelId="{EBC1895B-74D4-4632-AED8-AF74D2D8039E}" type="pres">
      <dgm:prSet presAssocID="{52EC9340-9B74-4311-AA1A-2774FE3EA32C}" presName="parentText" presStyleLbl="alignNode1" presStyleIdx="1" presStyleCnt="3">
        <dgm:presLayoutVars>
          <dgm:chMax val="1"/>
          <dgm:bulletEnabled val="1"/>
        </dgm:presLayoutVars>
      </dgm:prSet>
      <dgm:spPr/>
    </dgm:pt>
    <dgm:pt modelId="{920AC910-7499-45ED-915B-2E07D1C25199}" type="pres">
      <dgm:prSet presAssocID="{52EC9340-9B74-4311-AA1A-2774FE3EA32C}" presName="descendantText" presStyleLbl="alignAcc1" presStyleIdx="1" presStyleCnt="3">
        <dgm:presLayoutVars>
          <dgm:bulletEnabled val="1"/>
        </dgm:presLayoutVars>
      </dgm:prSet>
      <dgm:spPr/>
    </dgm:pt>
    <dgm:pt modelId="{A72B9328-CEF0-4DD5-9FA7-05E88C8F02CE}" type="pres">
      <dgm:prSet presAssocID="{29C253A5-AB73-419E-A204-087AAF9FC686}" presName="sp" presStyleCnt="0"/>
      <dgm:spPr/>
    </dgm:pt>
    <dgm:pt modelId="{3DB68055-70AA-4EF6-90FB-E9EA79A63892}" type="pres">
      <dgm:prSet presAssocID="{6F5AEECD-B468-4183-BC61-EC817219C11F}" presName="composite" presStyleCnt="0"/>
      <dgm:spPr/>
    </dgm:pt>
    <dgm:pt modelId="{A2BD3F31-1765-47EA-9944-658C158DCDBC}" type="pres">
      <dgm:prSet presAssocID="{6F5AEECD-B468-4183-BC61-EC817219C11F}" presName="parentText" presStyleLbl="alignNode1" presStyleIdx="2" presStyleCnt="3">
        <dgm:presLayoutVars>
          <dgm:chMax val="1"/>
          <dgm:bulletEnabled val="1"/>
        </dgm:presLayoutVars>
      </dgm:prSet>
      <dgm:spPr/>
    </dgm:pt>
    <dgm:pt modelId="{12B4B0F4-301F-4138-AB0E-EC3676DA11A3}" type="pres">
      <dgm:prSet presAssocID="{6F5AEECD-B468-4183-BC61-EC817219C11F}" presName="descendantText" presStyleLbl="alignAcc1" presStyleIdx="2" presStyleCnt="3">
        <dgm:presLayoutVars>
          <dgm:bulletEnabled val="1"/>
        </dgm:presLayoutVars>
      </dgm:prSet>
      <dgm:spPr/>
    </dgm:pt>
  </dgm:ptLst>
  <dgm:cxnLst>
    <dgm:cxn modelId="{EB5AA001-2782-4CCB-91E4-21326DC56D44}" type="presOf" srcId="{6F5AEECD-B468-4183-BC61-EC817219C11F}" destId="{A2BD3F31-1765-47EA-9944-658C158DCDBC}" srcOrd="0" destOrd="0" presId="urn:microsoft.com/office/officeart/2005/8/layout/chevron2"/>
    <dgm:cxn modelId="{479A3902-70E6-46A8-B98F-1731297E072F}" type="presOf" srcId="{52EC9340-9B74-4311-AA1A-2774FE3EA32C}" destId="{EBC1895B-74D4-4632-AED8-AF74D2D8039E}" srcOrd="0" destOrd="0" presId="urn:microsoft.com/office/officeart/2005/8/layout/chevron2"/>
    <dgm:cxn modelId="{646EA810-4BD0-4507-9598-9B3B49E2EB9C}" srcId="{0F174942-3759-41D2-8976-77C05CF1EDC6}" destId="{843E0849-2A2C-4BB7-8F56-F841CDCF9124}" srcOrd="1" destOrd="0" parTransId="{1646B335-8F0E-467E-BA3D-54089DDFF3B5}" sibTransId="{FBAE660E-3644-44AA-9ABB-B1F21AB7D1F6}"/>
    <dgm:cxn modelId="{F464381B-A76C-423F-B921-8FB0FF0B54A9}" srcId="{52EC9340-9B74-4311-AA1A-2774FE3EA32C}" destId="{C9EBD838-367F-4010-A18E-AAD550DD521D}" srcOrd="2" destOrd="0" parTransId="{D6EA2DC3-987E-4E37-AC51-72E1ADD1050F}" sibTransId="{47CD682F-782D-4E4B-B63E-61AD39D49703}"/>
    <dgm:cxn modelId="{908BC53D-6989-4CDE-89F0-FB31B9E417D3}" srcId="{341FA3C9-1635-4C6B-B4C2-F27471459717}" destId="{6F5AEECD-B468-4183-BC61-EC817219C11F}" srcOrd="2" destOrd="0" parTransId="{22230D74-6512-4A76-BA57-9BA1157360A6}" sibTransId="{8610E34E-C51B-447B-A3D0-63A10267FE7E}"/>
    <dgm:cxn modelId="{F7622662-A10C-41C2-BFAA-68C56C8EE7D8}" type="presOf" srcId="{0F174942-3759-41D2-8976-77C05CF1EDC6}" destId="{7E6FC8B7-1A2B-4E1A-8ACD-A88D883AA589}" srcOrd="0" destOrd="0" presId="urn:microsoft.com/office/officeart/2005/8/layout/chevron2"/>
    <dgm:cxn modelId="{E7D26A6B-8B8B-47FB-9B14-60980C17D019}" type="presOf" srcId="{4A35140D-A316-4DC6-8460-7F1FC1FE054D}" destId="{12B4B0F4-301F-4138-AB0E-EC3676DA11A3}" srcOrd="0" destOrd="1" presId="urn:microsoft.com/office/officeart/2005/8/layout/chevron2"/>
    <dgm:cxn modelId="{A06E0A54-94D8-4209-B526-9CC1278D5215}" type="presOf" srcId="{341FA3C9-1635-4C6B-B4C2-F27471459717}" destId="{0F52A2D9-4A9D-4D44-9E23-AB9E05BC587E}" srcOrd="0" destOrd="0" presId="urn:microsoft.com/office/officeart/2005/8/layout/chevron2"/>
    <dgm:cxn modelId="{638DC855-6D53-4CD8-B627-A5AA04A5CF13}" srcId="{341FA3C9-1635-4C6B-B4C2-F27471459717}" destId="{0F174942-3759-41D2-8976-77C05CF1EDC6}" srcOrd="0" destOrd="0" parTransId="{516158AF-1B6C-40C8-8BF5-ACD3238AC02E}" sibTransId="{D2274B47-ADA0-4B74-A84D-794B78B69222}"/>
    <dgm:cxn modelId="{65A33378-95AC-4AEE-BFEB-F32DB058D0D9}" type="presOf" srcId="{73FD4347-996F-47B0-A605-A60CDC253FEA}" destId="{920AC910-7499-45ED-915B-2E07D1C25199}" srcOrd="0" destOrd="1" presId="urn:microsoft.com/office/officeart/2005/8/layout/chevron2"/>
    <dgm:cxn modelId="{85D43D7C-4FB8-4EFA-80BB-472DAD8CDCCB}" srcId="{6F5AEECD-B468-4183-BC61-EC817219C11F}" destId="{19B5CC83-CFC9-4837-945E-C43A94F8F483}" srcOrd="0" destOrd="0" parTransId="{6DB505D3-C181-4807-8DB7-382414873100}" sibTransId="{A5D71334-9D75-4826-B938-08F9E95F52E9}"/>
    <dgm:cxn modelId="{30D58790-5BDD-409C-B3AF-2D8319D95BAB}" srcId="{0F174942-3759-41D2-8976-77C05CF1EDC6}" destId="{098D5974-3C46-45E3-9AE0-1A9DEDEC6B9B}" srcOrd="0" destOrd="0" parTransId="{C0870F72-7ACE-4093-A09C-85A0E2B179C3}" sibTransId="{C14904BA-0689-439B-9240-441E875ED0AA}"/>
    <dgm:cxn modelId="{4B706593-5E93-4224-A88C-1EE2E2C62D7C}" type="presOf" srcId="{AF704C74-DED0-40B5-8956-98227D23019F}" destId="{12B4B0F4-301F-4138-AB0E-EC3676DA11A3}" srcOrd="0" destOrd="2" presId="urn:microsoft.com/office/officeart/2005/8/layout/chevron2"/>
    <dgm:cxn modelId="{D34797A0-3F8F-4F42-A6EE-28C9E84B5593}" type="presOf" srcId="{C9EBD838-367F-4010-A18E-AAD550DD521D}" destId="{920AC910-7499-45ED-915B-2E07D1C25199}" srcOrd="0" destOrd="2" presId="urn:microsoft.com/office/officeart/2005/8/layout/chevron2"/>
    <dgm:cxn modelId="{A75B1EB0-9076-492A-81AC-DD3A1958485C}" srcId="{341FA3C9-1635-4C6B-B4C2-F27471459717}" destId="{52EC9340-9B74-4311-AA1A-2774FE3EA32C}" srcOrd="1" destOrd="0" parTransId="{E7F03A50-CC41-4D34-8B8E-E62C480EE491}" sibTransId="{29C253A5-AB73-419E-A204-087AAF9FC686}"/>
    <dgm:cxn modelId="{0A5EFBB4-5BAB-4FE0-B66A-BF81E84C0F35}" type="presOf" srcId="{098D5974-3C46-45E3-9AE0-1A9DEDEC6B9B}" destId="{66416A9C-2EE9-465F-A93A-A7FA72D10FDC}" srcOrd="0" destOrd="0" presId="urn:microsoft.com/office/officeart/2005/8/layout/chevron2"/>
    <dgm:cxn modelId="{0154F5B6-639A-4E22-9F52-BCF70EA3895D}" srcId="{52EC9340-9B74-4311-AA1A-2774FE3EA32C}" destId="{22640544-7793-4A63-9BAE-870DEAA9D278}" srcOrd="0" destOrd="0" parTransId="{50790550-9C37-4376-8D88-E846DD0DB67D}" sibTransId="{C38FC895-043E-478E-85A6-5712A87E9C49}"/>
    <dgm:cxn modelId="{379E94B7-376E-4E5D-8CB8-E6C518B2813A}" srcId="{52EC9340-9B74-4311-AA1A-2774FE3EA32C}" destId="{73FD4347-996F-47B0-A605-A60CDC253FEA}" srcOrd="1" destOrd="0" parTransId="{4CF50975-2771-4E12-A1A8-A4A25B1C20E4}" sibTransId="{D2CB3457-B840-4864-BFAE-FF13BE5A735A}"/>
    <dgm:cxn modelId="{7AAD51C6-FEDA-4062-BF8C-C9135C12EB99}" type="presOf" srcId="{843E0849-2A2C-4BB7-8F56-F841CDCF9124}" destId="{66416A9C-2EE9-465F-A93A-A7FA72D10FDC}" srcOrd="0" destOrd="1" presId="urn:microsoft.com/office/officeart/2005/8/layout/chevron2"/>
    <dgm:cxn modelId="{05EA9ACE-022E-4DE5-9317-C9730E176551}" srcId="{6F5AEECD-B468-4183-BC61-EC817219C11F}" destId="{AF704C74-DED0-40B5-8956-98227D23019F}" srcOrd="2" destOrd="0" parTransId="{7E3C39B2-0D86-4197-A2C2-D5C71E9B6C1E}" sibTransId="{A28C81B2-A73F-4E3B-9756-4DC08748D32E}"/>
    <dgm:cxn modelId="{3B8F2ED4-4507-4E72-9FFC-A932811A0B6A}" type="presOf" srcId="{19B5CC83-CFC9-4837-945E-C43A94F8F483}" destId="{12B4B0F4-301F-4138-AB0E-EC3676DA11A3}" srcOrd="0" destOrd="0" presId="urn:microsoft.com/office/officeart/2005/8/layout/chevron2"/>
    <dgm:cxn modelId="{18EF74DD-79D9-4047-ADC1-B1EA3C95EEDB}" type="presOf" srcId="{22640544-7793-4A63-9BAE-870DEAA9D278}" destId="{920AC910-7499-45ED-915B-2E07D1C25199}" srcOrd="0" destOrd="0" presId="urn:microsoft.com/office/officeart/2005/8/layout/chevron2"/>
    <dgm:cxn modelId="{01D98CF6-0CB8-4AE2-B134-9491B5334AF9}" srcId="{6F5AEECD-B468-4183-BC61-EC817219C11F}" destId="{4A35140D-A316-4DC6-8460-7F1FC1FE054D}" srcOrd="1" destOrd="0" parTransId="{C63A4D10-4DAA-4DC0-A42B-88874B12A67B}" sibTransId="{E5F70048-D4E8-40F6-8F45-0E4AD800791C}"/>
    <dgm:cxn modelId="{1676AA6F-38A5-4C22-B9C8-AD9ED4E667E2}" type="presParOf" srcId="{0F52A2D9-4A9D-4D44-9E23-AB9E05BC587E}" destId="{859F026A-8109-4CA1-B460-18285A9936C9}" srcOrd="0" destOrd="0" presId="urn:microsoft.com/office/officeart/2005/8/layout/chevron2"/>
    <dgm:cxn modelId="{F17A42D2-A69B-4BF5-9940-C6DDE5D897E4}" type="presParOf" srcId="{859F026A-8109-4CA1-B460-18285A9936C9}" destId="{7E6FC8B7-1A2B-4E1A-8ACD-A88D883AA589}" srcOrd="0" destOrd="0" presId="urn:microsoft.com/office/officeart/2005/8/layout/chevron2"/>
    <dgm:cxn modelId="{6D8D4DB2-F139-455A-B48D-C2D524597574}" type="presParOf" srcId="{859F026A-8109-4CA1-B460-18285A9936C9}" destId="{66416A9C-2EE9-465F-A93A-A7FA72D10FDC}" srcOrd="1" destOrd="0" presId="urn:microsoft.com/office/officeart/2005/8/layout/chevron2"/>
    <dgm:cxn modelId="{1F728AC1-E934-4966-8D76-7C4BD001DEA7}" type="presParOf" srcId="{0F52A2D9-4A9D-4D44-9E23-AB9E05BC587E}" destId="{BB93A7B9-DE4B-4238-A5B1-B32E4927EDF9}" srcOrd="1" destOrd="0" presId="urn:microsoft.com/office/officeart/2005/8/layout/chevron2"/>
    <dgm:cxn modelId="{18072B0D-C0AE-404F-AFA4-598E7A5E94C7}" type="presParOf" srcId="{0F52A2D9-4A9D-4D44-9E23-AB9E05BC587E}" destId="{DA0B0E72-A216-4C3C-9774-16F71821BEB7}" srcOrd="2" destOrd="0" presId="urn:microsoft.com/office/officeart/2005/8/layout/chevron2"/>
    <dgm:cxn modelId="{692E1AC2-1F24-4501-A01D-4862DFE4AEA2}" type="presParOf" srcId="{DA0B0E72-A216-4C3C-9774-16F71821BEB7}" destId="{EBC1895B-74D4-4632-AED8-AF74D2D8039E}" srcOrd="0" destOrd="0" presId="urn:microsoft.com/office/officeart/2005/8/layout/chevron2"/>
    <dgm:cxn modelId="{027A1776-F4D2-489E-AAAE-71C3B1C23C90}" type="presParOf" srcId="{DA0B0E72-A216-4C3C-9774-16F71821BEB7}" destId="{920AC910-7499-45ED-915B-2E07D1C25199}" srcOrd="1" destOrd="0" presId="urn:microsoft.com/office/officeart/2005/8/layout/chevron2"/>
    <dgm:cxn modelId="{40550ACF-F20F-47CE-9510-FC046BD6CB98}" type="presParOf" srcId="{0F52A2D9-4A9D-4D44-9E23-AB9E05BC587E}" destId="{A72B9328-CEF0-4DD5-9FA7-05E88C8F02CE}" srcOrd="3" destOrd="0" presId="urn:microsoft.com/office/officeart/2005/8/layout/chevron2"/>
    <dgm:cxn modelId="{0B8D06EC-B3E1-47D0-B0CE-61538EE58E63}" type="presParOf" srcId="{0F52A2D9-4A9D-4D44-9E23-AB9E05BC587E}" destId="{3DB68055-70AA-4EF6-90FB-E9EA79A63892}" srcOrd="4" destOrd="0" presId="urn:microsoft.com/office/officeart/2005/8/layout/chevron2"/>
    <dgm:cxn modelId="{B944E9A6-E01D-4B38-8DA0-75AE6D5F9561}" type="presParOf" srcId="{3DB68055-70AA-4EF6-90FB-E9EA79A63892}" destId="{A2BD3F31-1765-47EA-9944-658C158DCDBC}" srcOrd="0" destOrd="0" presId="urn:microsoft.com/office/officeart/2005/8/layout/chevron2"/>
    <dgm:cxn modelId="{F81E4A41-41B5-440E-92CB-9248ECA93082}" type="presParOf" srcId="{3DB68055-70AA-4EF6-90FB-E9EA79A63892}" destId="{12B4B0F4-301F-4138-AB0E-EC3676DA11A3}"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AFA752-3B8B-4730-BA54-EEC445B3C6F8}" type="doc">
      <dgm:prSet loTypeId="urn:microsoft.com/office/officeart/2009/3/layout/HorizontalOrganizationChart" loCatId="hierarchy" qsTypeId="urn:microsoft.com/office/officeart/2005/8/quickstyle/3d3" qsCatId="3D" csTypeId="urn:microsoft.com/office/officeart/2005/8/colors/colorful4" csCatId="colorful" phldr="1"/>
      <dgm:spPr/>
      <dgm:t>
        <a:bodyPr/>
        <a:lstStyle/>
        <a:p>
          <a:endParaRPr lang="en-IN"/>
        </a:p>
      </dgm:t>
    </dgm:pt>
    <dgm:pt modelId="{A453D7A3-2C14-4362-AF32-0A120CDFE5D3}">
      <dgm:prSet phldrT="[Text]" phldr="0"/>
      <dgm:spPr/>
      <dgm:t>
        <a:bodyPr/>
        <a:lstStyle/>
        <a:p>
          <a:r>
            <a:rPr lang="en-US" dirty="0"/>
            <a:t>Chat interface</a:t>
          </a:r>
          <a:endParaRPr lang="en-IN" dirty="0"/>
        </a:p>
      </dgm:t>
    </dgm:pt>
    <dgm:pt modelId="{A09DEB5C-9641-493D-BF19-6B69788EA758}" type="parTrans" cxnId="{F057CD9E-FB64-4948-A8D3-71811D616A8D}">
      <dgm:prSet/>
      <dgm:spPr/>
      <dgm:t>
        <a:bodyPr/>
        <a:lstStyle/>
        <a:p>
          <a:endParaRPr lang="en-IN"/>
        </a:p>
      </dgm:t>
    </dgm:pt>
    <dgm:pt modelId="{234DBA89-B8B9-4072-9C2A-59CCECE5202D}" type="sibTrans" cxnId="{F057CD9E-FB64-4948-A8D3-71811D616A8D}">
      <dgm:prSet/>
      <dgm:spPr/>
      <dgm:t>
        <a:bodyPr/>
        <a:lstStyle/>
        <a:p>
          <a:endParaRPr lang="en-IN"/>
        </a:p>
      </dgm:t>
    </dgm:pt>
    <dgm:pt modelId="{EAC87956-45C5-4CA4-AA04-554FAD1C9121}" type="asst">
      <dgm:prSet phldrT="[Text]" phldr="0"/>
      <dgm:spPr/>
      <dgm:t>
        <a:bodyPr/>
        <a:lstStyle/>
        <a:p>
          <a:r>
            <a:rPr lang="en-US" dirty="0"/>
            <a:t>Document upload flow</a:t>
          </a:r>
          <a:endParaRPr lang="en-IN" dirty="0"/>
        </a:p>
      </dgm:t>
    </dgm:pt>
    <dgm:pt modelId="{7B239DD9-DFCE-4628-8077-C799F7CA6984}" type="parTrans" cxnId="{D87AFF7A-DC62-4F8B-ABB8-A9BF9DB2E63B}">
      <dgm:prSet/>
      <dgm:spPr/>
      <dgm:t>
        <a:bodyPr/>
        <a:lstStyle/>
        <a:p>
          <a:endParaRPr lang="en-IN"/>
        </a:p>
      </dgm:t>
    </dgm:pt>
    <dgm:pt modelId="{7E5ADBB3-C4C8-4DBF-80DD-0142681F0342}" type="sibTrans" cxnId="{D87AFF7A-DC62-4F8B-ABB8-A9BF9DB2E63B}">
      <dgm:prSet/>
      <dgm:spPr/>
      <dgm:t>
        <a:bodyPr/>
        <a:lstStyle/>
        <a:p>
          <a:endParaRPr lang="en-IN"/>
        </a:p>
      </dgm:t>
    </dgm:pt>
    <dgm:pt modelId="{9ED2EB02-6E43-4DC9-84F9-37C8D09E5DE3}">
      <dgm:prSet phldrT="[Text]" phldr="0"/>
      <dgm:spPr/>
      <dgm:t>
        <a:bodyPr/>
        <a:lstStyle/>
        <a:p>
          <a:r>
            <a:rPr lang="en-US" dirty="0"/>
            <a:t>KYC check</a:t>
          </a:r>
          <a:endParaRPr lang="en-IN" dirty="0"/>
        </a:p>
      </dgm:t>
    </dgm:pt>
    <dgm:pt modelId="{D577B30F-28FD-45F7-BB34-A4B5B4DB8D06}" type="parTrans" cxnId="{451622E8-BC06-4266-8094-E35751FD1150}">
      <dgm:prSet/>
      <dgm:spPr/>
      <dgm:t>
        <a:bodyPr/>
        <a:lstStyle/>
        <a:p>
          <a:endParaRPr lang="en-IN"/>
        </a:p>
      </dgm:t>
    </dgm:pt>
    <dgm:pt modelId="{1768BAED-5F9E-46E2-93FF-D604DEA20252}" type="sibTrans" cxnId="{451622E8-BC06-4266-8094-E35751FD1150}">
      <dgm:prSet/>
      <dgm:spPr/>
      <dgm:t>
        <a:bodyPr/>
        <a:lstStyle/>
        <a:p>
          <a:endParaRPr lang="en-IN"/>
        </a:p>
      </dgm:t>
    </dgm:pt>
    <dgm:pt modelId="{43F4FF12-2643-4249-AC4A-84693022DE10}">
      <dgm:prSet phldrT="[Text]" phldr="0"/>
      <dgm:spPr/>
      <dgm:t>
        <a:bodyPr/>
        <a:lstStyle/>
        <a:p>
          <a:r>
            <a:rPr lang="en-US" dirty="0"/>
            <a:t>Underwriting decision</a:t>
          </a:r>
          <a:endParaRPr lang="en-IN" dirty="0"/>
        </a:p>
      </dgm:t>
    </dgm:pt>
    <dgm:pt modelId="{7591A786-54EC-4FE2-8733-AF5E43C6F133}" type="parTrans" cxnId="{35765A91-C21D-4693-A58C-D02DA8D73C6B}">
      <dgm:prSet/>
      <dgm:spPr/>
      <dgm:t>
        <a:bodyPr/>
        <a:lstStyle/>
        <a:p>
          <a:endParaRPr lang="en-IN"/>
        </a:p>
      </dgm:t>
    </dgm:pt>
    <dgm:pt modelId="{01ED76FF-EB54-4FDD-B037-E88966866505}" type="sibTrans" cxnId="{35765A91-C21D-4693-A58C-D02DA8D73C6B}">
      <dgm:prSet/>
      <dgm:spPr/>
      <dgm:t>
        <a:bodyPr/>
        <a:lstStyle/>
        <a:p>
          <a:endParaRPr lang="en-IN"/>
        </a:p>
      </dgm:t>
    </dgm:pt>
    <dgm:pt modelId="{C44A4D2E-F67B-41A6-9B8E-954306441D5C}">
      <dgm:prSet phldrT="[Text]" phldr="0"/>
      <dgm:spPr/>
      <dgm:t>
        <a:bodyPr/>
        <a:lstStyle/>
        <a:p>
          <a:r>
            <a:rPr lang="en-US" dirty="0"/>
            <a:t>Audit log outputs</a:t>
          </a:r>
          <a:endParaRPr lang="en-IN" dirty="0"/>
        </a:p>
      </dgm:t>
    </dgm:pt>
    <dgm:pt modelId="{1F69F1D4-BDCC-4601-9E45-C028730179AF}" type="parTrans" cxnId="{B720C909-148C-4A12-8BC0-02D3E3DF2BA4}">
      <dgm:prSet/>
      <dgm:spPr/>
      <dgm:t>
        <a:bodyPr/>
        <a:lstStyle/>
        <a:p>
          <a:endParaRPr lang="en-IN"/>
        </a:p>
      </dgm:t>
    </dgm:pt>
    <dgm:pt modelId="{325B9AA0-EDC7-4F1F-B993-8FB1336A876F}" type="sibTrans" cxnId="{B720C909-148C-4A12-8BC0-02D3E3DF2BA4}">
      <dgm:prSet/>
      <dgm:spPr/>
      <dgm:t>
        <a:bodyPr/>
        <a:lstStyle/>
        <a:p>
          <a:endParaRPr lang="en-IN"/>
        </a:p>
      </dgm:t>
    </dgm:pt>
    <dgm:pt modelId="{07BB38C6-C8F5-46A7-8962-76B9EF58B005}" type="pres">
      <dgm:prSet presAssocID="{1AAFA752-3B8B-4730-BA54-EEC445B3C6F8}" presName="hierChild1" presStyleCnt="0">
        <dgm:presLayoutVars>
          <dgm:orgChart val="1"/>
          <dgm:chPref val="1"/>
          <dgm:dir/>
          <dgm:animOne val="branch"/>
          <dgm:animLvl val="lvl"/>
          <dgm:resizeHandles/>
        </dgm:presLayoutVars>
      </dgm:prSet>
      <dgm:spPr/>
    </dgm:pt>
    <dgm:pt modelId="{073A6496-1D85-4D64-B411-56CBD9ED2985}" type="pres">
      <dgm:prSet presAssocID="{A453D7A3-2C14-4362-AF32-0A120CDFE5D3}" presName="hierRoot1" presStyleCnt="0">
        <dgm:presLayoutVars>
          <dgm:hierBranch val="init"/>
        </dgm:presLayoutVars>
      </dgm:prSet>
      <dgm:spPr/>
    </dgm:pt>
    <dgm:pt modelId="{3C20A3E8-DD49-43D0-9482-5606A56F7932}" type="pres">
      <dgm:prSet presAssocID="{A453D7A3-2C14-4362-AF32-0A120CDFE5D3}" presName="rootComposite1" presStyleCnt="0"/>
      <dgm:spPr/>
    </dgm:pt>
    <dgm:pt modelId="{C2F7ADBA-3F0C-482A-B9F3-4926A87AFE9A}" type="pres">
      <dgm:prSet presAssocID="{A453D7A3-2C14-4362-AF32-0A120CDFE5D3}" presName="rootText1" presStyleLbl="node0" presStyleIdx="0" presStyleCnt="1">
        <dgm:presLayoutVars>
          <dgm:chPref val="3"/>
        </dgm:presLayoutVars>
      </dgm:prSet>
      <dgm:spPr/>
    </dgm:pt>
    <dgm:pt modelId="{4F7170F2-A4EF-49AA-BC3B-8AA12319B387}" type="pres">
      <dgm:prSet presAssocID="{A453D7A3-2C14-4362-AF32-0A120CDFE5D3}" presName="rootConnector1" presStyleLbl="node1" presStyleIdx="0" presStyleCnt="0"/>
      <dgm:spPr/>
    </dgm:pt>
    <dgm:pt modelId="{D0E71504-5CE9-4C6A-B847-885726C1FA99}" type="pres">
      <dgm:prSet presAssocID="{A453D7A3-2C14-4362-AF32-0A120CDFE5D3}" presName="hierChild2" presStyleCnt="0"/>
      <dgm:spPr/>
    </dgm:pt>
    <dgm:pt modelId="{E8701B63-3DF3-4A8D-B8E6-1B3E461FEE68}" type="pres">
      <dgm:prSet presAssocID="{D577B30F-28FD-45F7-BB34-A4B5B4DB8D06}" presName="Name64" presStyleLbl="parChTrans1D2" presStyleIdx="0" presStyleCnt="4"/>
      <dgm:spPr/>
    </dgm:pt>
    <dgm:pt modelId="{068D51CA-65A6-47B0-A08A-30EEAEAB310C}" type="pres">
      <dgm:prSet presAssocID="{9ED2EB02-6E43-4DC9-84F9-37C8D09E5DE3}" presName="hierRoot2" presStyleCnt="0">
        <dgm:presLayoutVars>
          <dgm:hierBranch val="init"/>
        </dgm:presLayoutVars>
      </dgm:prSet>
      <dgm:spPr/>
    </dgm:pt>
    <dgm:pt modelId="{F191B794-945E-43A2-8239-1E03EA0ED6C6}" type="pres">
      <dgm:prSet presAssocID="{9ED2EB02-6E43-4DC9-84F9-37C8D09E5DE3}" presName="rootComposite" presStyleCnt="0"/>
      <dgm:spPr/>
    </dgm:pt>
    <dgm:pt modelId="{9ED6FED6-9528-4CAE-B159-85A0385DF6D5}" type="pres">
      <dgm:prSet presAssocID="{9ED2EB02-6E43-4DC9-84F9-37C8D09E5DE3}" presName="rootText" presStyleLbl="node2" presStyleIdx="0" presStyleCnt="3">
        <dgm:presLayoutVars>
          <dgm:chPref val="3"/>
        </dgm:presLayoutVars>
      </dgm:prSet>
      <dgm:spPr/>
    </dgm:pt>
    <dgm:pt modelId="{1466638B-8FAB-4005-AAD3-E216E4537BE3}" type="pres">
      <dgm:prSet presAssocID="{9ED2EB02-6E43-4DC9-84F9-37C8D09E5DE3}" presName="rootConnector" presStyleLbl="node2" presStyleIdx="0" presStyleCnt="3"/>
      <dgm:spPr/>
    </dgm:pt>
    <dgm:pt modelId="{0977480B-F11B-4444-AE00-A6A11182562B}" type="pres">
      <dgm:prSet presAssocID="{9ED2EB02-6E43-4DC9-84F9-37C8D09E5DE3}" presName="hierChild4" presStyleCnt="0"/>
      <dgm:spPr/>
    </dgm:pt>
    <dgm:pt modelId="{F19967D4-5EE1-4DC7-A181-0BFA4EEAE592}" type="pres">
      <dgm:prSet presAssocID="{9ED2EB02-6E43-4DC9-84F9-37C8D09E5DE3}" presName="hierChild5" presStyleCnt="0"/>
      <dgm:spPr/>
    </dgm:pt>
    <dgm:pt modelId="{4EF0417D-0ABB-4183-B077-7A88209CA00F}" type="pres">
      <dgm:prSet presAssocID="{7591A786-54EC-4FE2-8733-AF5E43C6F133}" presName="Name64" presStyleLbl="parChTrans1D2" presStyleIdx="1" presStyleCnt="4"/>
      <dgm:spPr/>
    </dgm:pt>
    <dgm:pt modelId="{039B50E8-73EC-484C-800E-5A99E25FB0EA}" type="pres">
      <dgm:prSet presAssocID="{43F4FF12-2643-4249-AC4A-84693022DE10}" presName="hierRoot2" presStyleCnt="0">
        <dgm:presLayoutVars>
          <dgm:hierBranch val="init"/>
        </dgm:presLayoutVars>
      </dgm:prSet>
      <dgm:spPr/>
    </dgm:pt>
    <dgm:pt modelId="{F669CC2E-DA77-4345-9AA7-078546E419B5}" type="pres">
      <dgm:prSet presAssocID="{43F4FF12-2643-4249-AC4A-84693022DE10}" presName="rootComposite" presStyleCnt="0"/>
      <dgm:spPr/>
    </dgm:pt>
    <dgm:pt modelId="{2A88C1E4-97A1-444E-A6CA-A083A087FA7D}" type="pres">
      <dgm:prSet presAssocID="{43F4FF12-2643-4249-AC4A-84693022DE10}" presName="rootText" presStyleLbl="node2" presStyleIdx="1" presStyleCnt="3">
        <dgm:presLayoutVars>
          <dgm:chPref val="3"/>
        </dgm:presLayoutVars>
      </dgm:prSet>
      <dgm:spPr/>
    </dgm:pt>
    <dgm:pt modelId="{012A8D2B-2280-41AE-AA08-8FAEBD82E39C}" type="pres">
      <dgm:prSet presAssocID="{43F4FF12-2643-4249-AC4A-84693022DE10}" presName="rootConnector" presStyleLbl="node2" presStyleIdx="1" presStyleCnt="3"/>
      <dgm:spPr/>
    </dgm:pt>
    <dgm:pt modelId="{F6D8B4AC-3013-410A-ACA5-EFE777C07C4A}" type="pres">
      <dgm:prSet presAssocID="{43F4FF12-2643-4249-AC4A-84693022DE10}" presName="hierChild4" presStyleCnt="0"/>
      <dgm:spPr/>
    </dgm:pt>
    <dgm:pt modelId="{CC044FC8-6160-4148-9997-4C698EAE1CAC}" type="pres">
      <dgm:prSet presAssocID="{43F4FF12-2643-4249-AC4A-84693022DE10}" presName="hierChild5" presStyleCnt="0"/>
      <dgm:spPr/>
    </dgm:pt>
    <dgm:pt modelId="{748E8598-4C13-4136-AF7E-5F85BA238743}" type="pres">
      <dgm:prSet presAssocID="{1F69F1D4-BDCC-4601-9E45-C028730179AF}" presName="Name64" presStyleLbl="parChTrans1D2" presStyleIdx="2" presStyleCnt="4"/>
      <dgm:spPr/>
    </dgm:pt>
    <dgm:pt modelId="{37AF893E-FEF6-435F-8536-1F6855BF29AD}" type="pres">
      <dgm:prSet presAssocID="{C44A4D2E-F67B-41A6-9B8E-954306441D5C}" presName="hierRoot2" presStyleCnt="0">
        <dgm:presLayoutVars>
          <dgm:hierBranch val="init"/>
        </dgm:presLayoutVars>
      </dgm:prSet>
      <dgm:spPr/>
    </dgm:pt>
    <dgm:pt modelId="{CED67CF6-FD83-4DBC-BADA-491CF83FC16A}" type="pres">
      <dgm:prSet presAssocID="{C44A4D2E-F67B-41A6-9B8E-954306441D5C}" presName="rootComposite" presStyleCnt="0"/>
      <dgm:spPr/>
    </dgm:pt>
    <dgm:pt modelId="{DF89E68F-03A6-4073-82C8-B6545DDE6A82}" type="pres">
      <dgm:prSet presAssocID="{C44A4D2E-F67B-41A6-9B8E-954306441D5C}" presName="rootText" presStyleLbl="node2" presStyleIdx="2" presStyleCnt="3">
        <dgm:presLayoutVars>
          <dgm:chPref val="3"/>
        </dgm:presLayoutVars>
      </dgm:prSet>
      <dgm:spPr/>
    </dgm:pt>
    <dgm:pt modelId="{2B2C4535-0B74-4629-B9D4-0FA7043153BA}" type="pres">
      <dgm:prSet presAssocID="{C44A4D2E-F67B-41A6-9B8E-954306441D5C}" presName="rootConnector" presStyleLbl="node2" presStyleIdx="2" presStyleCnt="3"/>
      <dgm:spPr/>
    </dgm:pt>
    <dgm:pt modelId="{CDB5E561-FD0D-474C-913B-10285F6C598F}" type="pres">
      <dgm:prSet presAssocID="{C44A4D2E-F67B-41A6-9B8E-954306441D5C}" presName="hierChild4" presStyleCnt="0"/>
      <dgm:spPr/>
    </dgm:pt>
    <dgm:pt modelId="{26B126A8-0203-40AD-9DF2-8F290D8976EF}" type="pres">
      <dgm:prSet presAssocID="{C44A4D2E-F67B-41A6-9B8E-954306441D5C}" presName="hierChild5" presStyleCnt="0"/>
      <dgm:spPr/>
    </dgm:pt>
    <dgm:pt modelId="{240A017A-0AB0-4B3E-818E-D1ECBFC1BBA5}" type="pres">
      <dgm:prSet presAssocID="{A453D7A3-2C14-4362-AF32-0A120CDFE5D3}" presName="hierChild3" presStyleCnt="0"/>
      <dgm:spPr/>
    </dgm:pt>
    <dgm:pt modelId="{8661F1B5-3FFE-4B1A-9494-F35F960D770F}" type="pres">
      <dgm:prSet presAssocID="{7B239DD9-DFCE-4628-8077-C799F7CA6984}" presName="Name115" presStyleLbl="parChTrans1D2" presStyleIdx="3" presStyleCnt="4"/>
      <dgm:spPr/>
    </dgm:pt>
    <dgm:pt modelId="{AEE99249-82D2-430B-9E63-D6C79DF9E0D4}" type="pres">
      <dgm:prSet presAssocID="{EAC87956-45C5-4CA4-AA04-554FAD1C9121}" presName="hierRoot3" presStyleCnt="0">
        <dgm:presLayoutVars>
          <dgm:hierBranch val="init"/>
        </dgm:presLayoutVars>
      </dgm:prSet>
      <dgm:spPr/>
    </dgm:pt>
    <dgm:pt modelId="{14C27297-EDFA-4922-919D-FEF6C96113B9}" type="pres">
      <dgm:prSet presAssocID="{EAC87956-45C5-4CA4-AA04-554FAD1C9121}" presName="rootComposite3" presStyleCnt="0"/>
      <dgm:spPr/>
    </dgm:pt>
    <dgm:pt modelId="{448415AB-562A-4550-A9C0-4538A98E9A2C}" type="pres">
      <dgm:prSet presAssocID="{EAC87956-45C5-4CA4-AA04-554FAD1C9121}" presName="rootText3" presStyleLbl="asst1" presStyleIdx="0" presStyleCnt="1">
        <dgm:presLayoutVars>
          <dgm:chPref val="3"/>
        </dgm:presLayoutVars>
      </dgm:prSet>
      <dgm:spPr/>
    </dgm:pt>
    <dgm:pt modelId="{47B1F64D-041D-40E5-B1FE-0146AA202CA9}" type="pres">
      <dgm:prSet presAssocID="{EAC87956-45C5-4CA4-AA04-554FAD1C9121}" presName="rootConnector3" presStyleLbl="asst1" presStyleIdx="0" presStyleCnt="1"/>
      <dgm:spPr/>
    </dgm:pt>
    <dgm:pt modelId="{DB152815-1D4A-460C-943F-3C9C0CAE030B}" type="pres">
      <dgm:prSet presAssocID="{EAC87956-45C5-4CA4-AA04-554FAD1C9121}" presName="hierChild6" presStyleCnt="0"/>
      <dgm:spPr/>
    </dgm:pt>
    <dgm:pt modelId="{A4123D3F-816F-499A-935D-453277C49D68}" type="pres">
      <dgm:prSet presAssocID="{EAC87956-45C5-4CA4-AA04-554FAD1C9121}" presName="hierChild7" presStyleCnt="0"/>
      <dgm:spPr/>
    </dgm:pt>
  </dgm:ptLst>
  <dgm:cxnLst>
    <dgm:cxn modelId="{B720C909-148C-4A12-8BC0-02D3E3DF2BA4}" srcId="{A453D7A3-2C14-4362-AF32-0A120CDFE5D3}" destId="{C44A4D2E-F67B-41A6-9B8E-954306441D5C}" srcOrd="3" destOrd="0" parTransId="{1F69F1D4-BDCC-4601-9E45-C028730179AF}" sibTransId="{325B9AA0-EDC7-4F1F-B993-8FB1336A876F}"/>
    <dgm:cxn modelId="{8273120B-8B17-4882-8577-64CD5036DD4C}" type="presOf" srcId="{7B239DD9-DFCE-4628-8077-C799F7CA6984}" destId="{8661F1B5-3FFE-4B1A-9494-F35F960D770F}" srcOrd="0" destOrd="0" presId="urn:microsoft.com/office/officeart/2009/3/layout/HorizontalOrganizationChart"/>
    <dgm:cxn modelId="{00EEF213-60A5-4A0A-9BAD-0E00C21F8C5F}" type="presOf" srcId="{EAC87956-45C5-4CA4-AA04-554FAD1C9121}" destId="{47B1F64D-041D-40E5-B1FE-0146AA202CA9}" srcOrd="1" destOrd="0" presId="urn:microsoft.com/office/officeart/2009/3/layout/HorizontalOrganizationChart"/>
    <dgm:cxn modelId="{D7444914-7DA4-4524-A27E-9A017DD1992D}" type="presOf" srcId="{9ED2EB02-6E43-4DC9-84F9-37C8D09E5DE3}" destId="{9ED6FED6-9528-4CAE-B159-85A0385DF6D5}" srcOrd="0" destOrd="0" presId="urn:microsoft.com/office/officeart/2009/3/layout/HorizontalOrganizationChart"/>
    <dgm:cxn modelId="{ED6ACA15-5AE0-4120-88DA-0B28241BE683}" type="presOf" srcId="{EAC87956-45C5-4CA4-AA04-554FAD1C9121}" destId="{448415AB-562A-4550-A9C0-4538A98E9A2C}" srcOrd="0" destOrd="0" presId="urn:microsoft.com/office/officeart/2009/3/layout/HorizontalOrganizationChart"/>
    <dgm:cxn modelId="{B2493926-16FA-4093-A605-9AFF02BF6748}" type="presOf" srcId="{C44A4D2E-F67B-41A6-9B8E-954306441D5C}" destId="{2B2C4535-0B74-4629-B9D4-0FA7043153BA}" srcOrd="1" destOrd="0" presId="urn:microsoft.com/office/officeart/2009/3/layout/HorizontalOrganizationChart"/>
    <dgm:cxn modelId="{514A972F-8645-4329-B8AC-C962829ED132}" type="presOf" srcId="{43F4FF12-2643-4249-AC4A-84693022DE10}" destId="{012A8D2B-2280-41AE-AA08-8FAEBD82E39C}" srcOrd="1" destOrd="0" presId="urn:microsoft.com/office/officeart/2009/3/layout/HorizontalOrganizationChart"/>
    <dgm:cxn modelId="{06752B32-FA19-4074-8453-F614C04CB839}" type="presOf" srcId="{43F4FF12-2643-4249-AC4A-84693022DE10}" destId="{2A88C1E4-97A1-444E-A6CA-A083A087FA7D}" srcOrd="0" destOrd="0" presId="urn:microsoft.com/office/officeart/2009/3/layout/HorizontalOrganizationChart"/>
    <dgm:cxn modelId="{D87AFF7A-DC62-4F8B-ABB8-A9BF9DB2E63B}" srcId="{A453D7A3-2C14-4362-AF32-0A120CDFE5D3}" destId="{EAC87956-45C5-4CA4-AA04-554FAD1C9121}" srcOrd="0" destOrd="0" parTransId="{7B239DD9-DFCE-4628-8077-C799F7CA6984}" sibTransId="{7E5ADBB3-C4C8-4DBF-80DD-0142681F0342}"/>
    <dgm:cxn modelId="{B59E3F88-F925-4A5F-BAF9-3C92CAF6EBA5}" type="presOf" srcId="{C44A4D2E-F67B-41A6-9B8E-954306441D5C}" destId="{DF89E68F-03A6-4073-82C8-B6545DDE6A82}" srcOrd="0" destOrd="0" presId="urn:microsoft.com/office/officeart/2009/3/layout/HorizontalOrganizationChart"/>
    <dgm:cxn modelId="{35765A91-C21D-4693-A58C-D02DA8D73C6B}" srcId="{A453D7A3-2C14-4362-AF32-0A120CDFE5D3}" destId="{43F4FF12-2643-4249-AC4A-84693022DE10}" srcOrd="2" destOrd="0" parTransId="{7591A786-54EC-4FE2-8733-AF5E43C6F133}" sibTransId="{01ED76FF-EB54-4FDD-B037-E88966866505}"/>
    <dgm:cxn modelId="{D300B191-42FE-45E3-8922-FF965D1EDDEB}" type="presOf" srcId="{1F69F1D4-BDCC-4601-9E45-C028730179AF}" destId="{748E8598-4C13-4136-AF7E-5F85BA238743}" srcOrd="0" destOrd="0" presId="urn:microsoft.com/office/officeart/2009/3/layout/HorizontalOrganizationChart"/>
    <dgm:cxn modelId="{F057CD9E-FB64-4948-A8D3-71811D616A8D}" srcId="{1AAFA752-3B8B-4730-BA54-EEC445B3C6F8}" destId="{A453D7A3-2C14-4362-AF32-0A120CDFE5D3}" srcOrd="0" destOrd="0" parTransId="{A09DEB5C-9641-493D-BF19-6B69788EA758}" sibTransId="{234DBA89-B8B9-4072-9C2A-59CCECE5202D}"/>
    <dgm:cxn modelId="{D73FC8A3-7254-443A-95AC-A74052EA785A}" type="presOf" srcId="{9ED2EB02-6E43-4DC9-84F9-37C8D09E5DE3}" destId="{1466638B-8FAB-4005-AAD3-E216E4537BE3}" srcOrd="1" destOrd="0" presId="urn:microsoft.com/office/officeart/2009/3/layout/HorizontalOrganizationChart"/>
    <dgm:cxn modelId="{51A966AF-E4B1-42EF-BFD7-4E0626A30CB4}" type="presOf" srcId="{1AAFA752-3B8B-4730-BA54-EEC445B3C6F8}" destId="{07BB38C6-C8F5-46A7-8962-76B9EF58B005}" srcOrd="0" destOrd="0" presId="urn:microsoft.com/office/officeart/2009/3/layout/HorizontalOrganizationChart"/>
    <dgm:cxn modelId="{00EF52B2-F2BC-4240-87E7-C94C4E4BAAD7}" type="presOf" srcId="{A453D7A3-2C14-4362-AF32-0A120CDFE5D3}" destId="{4F7170F2-A4EF-49AA-BC3B-8AA12319B387}" srcOrd="1" destOrd="0" presId="urn:microsoft.com/office/officeart/2009/3/layout/HorizontalOrganizationChart"/>
    <dgm:cxn modelId="{F13312BA-9939-4136-80D5-721B781CEBAB}" type="presOf" srcId="{A453D7A3-2C14-4362-AF32-0A120CDFE5D3}" destId="{C2F7ADBA-3F0C-482A-B9F3-4926A87AFE9A}" srcOrd="0" destOrd="0" presId="urn:microsoft.com/office/officeart/2009/3/layout/HorizontalOrganizationChart"/>
    <dgm:cxn modelId="{02FAC4C1-3E13-4B95-9177-897CC30BDEAE}" type="presOf" srcId="{D577B30F-28FD-45F7-BB34-A4B5B4DB8D06}" destId="{E8701B63-3DF3-4A8D-B8E6-1B3E461FEE68}" srcOrd="0" destOrd="0" presId="urn:microsoft.com/office/officeart/2009/3/layout/HorizontalOrganizationChart"/>
    <dgm:cxn modelId="{560C92CA-5B69-4D92-8758-CB4ACDB8511B}" type="presOf" srcId="{7591A786-54EC-4FE2-8733-AF5E43C6F133}" destId="{4EF0417D-0ABB-4183-B077-7A88209CA00F}" srcOrd="0" destOrd="0" presId="urn:microsoft.com/office/officeart/2009/3/layout/HorizontalOrganizationChart"/>
    <dgm:cxn modelId="{451622E8-BC06-4266-8094-E35751FD1150}" srcId="{A453D7A3-2C14-4362-AF32-0A120CDFE5D3}" destId="{9ED2EB02-6E43-4DC9-84F9-37C8D09E5DE3}" srcOrd="1" destOrd="0" parTransId="{D577B30F-28FD-45F7-BB34-A4B5B4DB8D06}" sibTransId="{1768BAED-5F9E-46E2-93FF-D604DEA20252}"/>
    <dgm:cxn modelId="{BC47792E-289F-4C97-8D2E-57DA7A280B1D}" type="presParOf" srcId="{07BB38C6-C8F5-46A7-8962-76B9EF58B005}" destId="{073A6496-1D85-4D64-B411-56CBD9ED2985}" srcOrd="0" destOrd="0" presId="urn:microsoft.com/office/officeart/2009/3/layout/HorizontalOrganizationChart"/>
    <dgm:cxn modelId="{EF7B274F-A01F-4E6C-8E0D-E6137C21F073}" type="presParOf" srcId="{073A6496-1D85-4D64-B411-56CBD9ED2985}" destId="{3C20A3E8-DD49-43D0-9482-5606A56F7932}" srcOrd="0" destOrd="0" presId="urn:microsoft.com/office/officeart/2009/3/layout/HorizontalOrganizationChart"/>
    <dgm:cxn modelId="{BB83933C-0F8F-4A7E-A29B-CDE68D776479}" type="presParOf" srcId="{3C20A3E8-DD49-43D0-9482-5606A56F7932}" destId="{C2F7ADBA-3F0C-482A-B9F3-4926A87AFE9A}" srcOrd="0" destOrd="0" presId="urn:microsoft.com/office/officeart/2009/3/layout/HorizontalOrganizationChart"/>
    <dgm:cxn modelId="{5C582AF5-A543-48CD-B0F0-FEED90278D4B}" type="presParOf" srcId="{3C20A3E8-DD49-43D0-9482-5606A56F7932}" destId="{4F7170F2-A4EF-49AA-BC3B-8AA12319B387}" srcOrd="1" destOrd="0" presId="urn:microsoft.com/office/officeart/2009/3/layout/HorizontalOrganizationChart"/>
    <dgm:cxn modelId="{794ADF54-ACF2-4586-BADF-60D9126CB5CA}" type="presParOf" srcId="{073A6496-1D85-4D64-B411-56CBD9ED2985}" destId="{D0E71504-5CE9-4C6A-B847-885726C1FA99}" srcOrd="1" destOrd="0" presId="urn:microsoft.com/office/officeart/2009/3/layout/HorizontalOrganizationChart"/>
    <dgm:cxn modelId="{B36354E9-AAF3-47F8-9E8C-E361205566EC}" type="presParOf" srcId="{D0E71504-5CE9-4C6A-B847-885726C1FA99}" destId="{E8701B63-3DF3-4A8D-B8E6-1B3E461FEE68}" srcOrd="0" destOrd="0" presId="urn:microsoft.com/office/officeart/2009/3/layout/HorizontalOrganizationChart"/>
    <dgm:cxn modelId="{161116D1-781F-4C4A-8E6B-7E0F3AC2CC15}" type="presParOf" srcId="{D0E71504-5CE9-4C6A-B847-885726C1FA99}" destId="{068D51CA-65A6-47B0-A08A-30EEAEAB310C}" srcOrd="1" destOrd="0" presId="urn:microsoft.com/office/officeart/2009/3/layout/HorizontalOrganizationChart"/>
    <dgm:cxn modelId="{3F1D0279-DA5C-44D6-8C9D-1477492993A7}" type="presParOf" srcId="{068D51CA-65A6-47B0-A08A-30EEAEAB310C}" destId="{F191B794-945E-43A2-8239-1E03EA0ED6C6}" srcOrd="0" destOrd="0" presId="urn:microsoft.com/office/officeart/2009/3/layout/HorizontalOrganizationChart"/>
    <dgm:cxn modelId="{D470B0F0-3BB2-4238-B34D-55076974E070}" type="presParOf" srcId="{F191B794-945E-43A2-8239-1E03EA0ED6C6}" destId="{9ED6FED6-9528-4CAE-B159-85A0385DF6D5}" srcOrd="0" destOrd="0" presId="urn:microsoft.com/office/officeart/2009/3/layout/HorizontalOrganizationChart"/>
    <dgm:cxn modelId="{31770F91-81DF-4CE8-9B6B-E0257148B58C}" type="presParOf" srcId="{F191B794-945E-43A2-8239-1E03EA0ED6C6}" destId="{1466638B-8FAB-4005-AAD3-E216E4537BE3}" srcOrd="1" destOrd="0" presId="urn:microsoft.com/office/officeart/2009/3/layout/HorizontalOrganizationChart"/>
    <dgm:cxn modelId="{AE8FC351-A82A-417C-A9C8-9F027F9152FD}" type="presParOf" srcId="{068D51CA-65A6-47B0-A08A-30EEAEAB310C}" destId="{0977480B-F11B-4444-AE00-A6A11182562B}" srcOrd="1" destOrd="0" presId="urn:microsoft.com/office/officeart/2009/3/layout/HorizontalOrganizationChart"/>
    <dgm:cxn modelId="{CC459377-210F-4A2A-80E1-76C20C2F428B}" type="presParOf" srcId="{068D51CA-65A6-47B0-A08A-30EEAEAB310C}" destId="{F19967D4-5EE1-4DC7-A181-0BFA4EEAE592}" srcOrd="2" destOrd="0" presId="urn:microsoft.com/office/officeart/2009/3/layout/HorizontalOrganizationChart"/>
    <dgm:cxn modelId="{187C7C3A-80CE-4BF3-8602-1E814C64B37D}" type="presParOf" srcId="{D0E71504-5CE9-4C6A-B847-885726C1FA99}" destId="{4EF0417D-0ABB-4183-B077-7A88209CA00F}" srcOrd="2" destOrd="0" presId="urn:microsoft.com/office/officeart/2009/3/layout/HorizontalOrganizationChart"/>
    <dgm:cxn modelId="{0D3B8AB6-8AFB-4D8E-9F4E-05E84EB3F80E}" type="presParOf" srcId="{D0E71504-5CE9-4C6A-B847-885726C1FA99}" destId="{039B50E8-73EC-484C-800E-5A99E25FB0EA}" srcOrd="3" destOrd="0" presId="urn:microsoft.com/office/officeart/2009/3/layout/HorizontalOrganizationChart"/>
    <dgm:cxn modelId="{9E6B716F-85BA-4369-8D0C-812181DD635A}" type="presParOf" srcId="{039B50E8-73EC-484C-800E-5A99E25FB0EA}" destId="{F669CC2E-DA77-4345-9AA7-078546E419B5}" srcOrd="0" destOrd="0" presId="urn:microsoft.com/office/officeart/2009/3/layout/HorizontalOrganizationChart"/>
    <dgm:cxn modelId="{DBE77B0F-420D-46D9-883C-3AA6EE6EAEDC}" type="presParOf" srcId="{F669CC2E-DA77-4345-9AA7-078546E419B5}" destId="{2A88C1E4-97A1-444E-A6CA-A083A087FA7D}" srcOrd="0" destOrd="0" presId="urn:microsoft.com/office/officeart/2009/3/layout/HorizontalOrganizationChart"/>
    <dgm:cxn modelId="{9E2AE5DA-75B4-4601-B9B9-8A3E5799A4DE}" type="presParOf" srcId="{F669CC2E-DA77-4345-9AA7-078546E419B5}" destId="{012A8D2B-2280-41AE-AA08-8FAEBD82E39C}" srcOrd="1" destOrd="0" presId="urn:microsoft.com/office/officeart/2009/3/layout/HorizontalOrganizationChart"/>
    <dgm:cxn modelId="{8F8558A4-34C6-46B6-A121-6F1CEB23F31F}" type="presParOf" srcId="{039B50E8-73EC-484C-800E-5A99E25FB0EA}" destId="{F6D8B4AC-3013-410A-ACA5-EFE777C07C4A}" srcOrd="1" destOrd="0" presId="urn:microsoft.com/office/officeart/2009/3/layout/HorizontalOrganizationChart"/>
    <dgm:cxn modelId="{B4DD564B-08D9-4A02-9C4A-1B23BFAB31F1}" type="presParOf" srcId="{039B50E8-73EC-484C-800E-5A99E25FB0EA}" destId="{CC044FC8-6160-4148-9997-4C698EAE1CAC}" srcOrd="2" destOrd="0" presId="urn:microsoft.com/office/officeart/2009/3/layout/HorizontalOrganizationChart"/>
    <dgm:cxn modelId="{ACC06DBD-00E6-434C-8BB3-7A308D86EC5B}" type="presParOf" srcId="{D0E71504-5CE9-4C6A-B847-885726C1FA99}" destId="{748E8598-4C13-4136-AF7E-5F85BA238743}" srcOrd="4" destOrd="0" presId="urn:microsoft.com/office/officeart/2009/3/layout/HorizontalOrganizationChart"/>
    <dgm:cxn modelId="{937CF669-1144-4250-AA59-C1DC9BE1CA3D}" type="presParOf" srcId="{D0E71504-5CE9-4C6A-B847-885726C1FA99}" destId="{37AF893E-FEF6-435F-8536-1F6855BF29AD}" srcOrd="5" destOrd="0" presId="urn:microsoft.com/office/officeart/2009/3/layout/HorizontalOrganizationChart"/>
    <dgm:cxn modelId="{1F521FEC-5B1B-470A-827E-2A4376BF1FF6}" type="presParOf" srcId="{37AF893E-FEF6-435F-8536-1F6855BF29AD}" destId="{CED67CF6-FD83-4DBC-BADA-491CF83FC16A}" srcOrd="0" destOrd="0" presId="urn:microsoft.com/office/officeart/2009/3/layout/HorizontalOrganizationChart"/>
    <dgm:cxn modelId="{C584CD3F-47CD-42D0-96AF-364274100AD5}" type="presParOf" srcId="{CED67CF6-FD83-4DBC-BADA-491CF83FC16A}" destId="{DF89E68F-03A6-4073-82C8-B6545DDE6A82}" srcOrd="0" destOrd="0" presId="urn:microsoft.com/office/officeart/2009/3/layout/HorizontalOrganizationChart"/>
    <dgm:cxn modelId="{9CB515C6-1949-434E-A3E1-5E92DCF73BAD}" type="presParOf" srcId="{CED67CF6-FD83-4DBC-BADA-491CF83FC16A}" destId="{2B2C4535-0B74-4629-B9D4-0FA7043153BA}" srcOrd="1" destOrd="0" presId="urn:microsoft.com/office/officeart/2009/3/layout/HorizontalOrganizationChart"/>
    <dgm:cxn modelId="{62473988-D864-41C1-879F-B2922D18D2CE}" type="presParOf" srcId="{37AF893E-FEF6-435F-8536-1F6855BF29AD}" destId="{CDB5E561-FD0D-474C-913B-10285F6C598F}" srcOrd="1" destOrd="0" presId="urn:microsoft.com/office/officeart/2009/3/layout/HorizontalOrganizationChart"/>
    <dgm:cxn modelId="{74122CD9-2AA7-42B4-9027-3D00258FFCA0}" type="presParOf" srcId="{37AF893E-FEF6-435F-8536-1F6855BF29AD}" destId="{26B126A8-0203-40AD-9DF2-8F290D8976EF}" srcOrd="2" destOrd="0" presId="urn:microsoft.com/office/officeart/2009/3/layout/HorizontalOrganizationChart"/>
    <dgm:cxn modelId="{B5DAA0BD-BACF-4D9A-95C8-044727EE92D0}" type="presParOf" srcId="{073A6496-1D85-4D64-B411-56CBD9ED2985}" destId="{240A017A-0AB0-4B3E-818E-D1ECBFC1BBA5}" srcOrd="2" destOrd="0" presId="urn:microsoft.com/office/officeart/2009/3/layout/HorizontalOrganizationChart"/>
    <dgm:cxn modelId="{5ED2C059-2868-43B0-A36D-BEDB19851805}" type="presParOf" srcId="{240A017A-0AB0-4B3E-818E-D1ECBFC1BBA5}" destId="{8661F1B5-3FFE-4B1A-9494-F35F960D770F}" srcOrd="0" destOrd="0" presId="urn:microsoft.com/office/officeart/2009/3/layout/HorizontalOrganizationChart"/>
    <dgm:cxn modelId="{553596C3-0C1D-49EC-A3C1-12F2B649E8D1}" type="presParOf" srcId="{240A017A-0AB0-4B3E-818E-D1ECBFC1BBA5}" destId="{AEE99249-82D2-430B-9E63-D6C79DF9E0D4}" srcOrd="1" destOrd="0" presId="urn:microsoft.com/office/officeart/2009/3/layout/HorizontalOrganizationChart"/>
    <dgm:cxn modelId="{F9716EB1-0EE0-4253-B886-BC00FD1D0855}" type="presParOf" srcId="{AEE99249-82D2-430B-9E63-D6C79DF9E0D4}" destId="{14C27297-EDFA-4922-919D-FEF6C96113B9}" srcOrd="0" destOrd="0" presId="urn:microsoft.com/office/officeart/2009/3/layout/HorizontalOrganizationChart"/>
    <dgm:cxn modelId="{01FDD68C-ECEE-4339-BF1B-509F3C15261A}" type="presParOf" srcId="{14C27297-EDFA-4922-919D-FEF6C96113B9}" destId="{448415AB-562A-4550-A9C0-4538A98E9A2C}" srcOrd="0" destOrd="0" presId="urn:microsoft.com/office/officeart/2009/3/layout/HorizontalOrganizationChart"/>
    <dgm:cxn modelId="{9D745021-85FA-4BCB-A4D8-28C1D66A6457}" type="presParOf" srcId="{14C27297-EDFA-4922-919D-FEF6C96113B9}" destId="{47B1F64D-041D-40E5-B1FE-0146AA202CA9}" srcOrd="1" destOrd="0" presId="urn:microsoft.com/office/officeart/2009/3/layout/HorizontalOrganizationChart"/>
    <dgm:cxn modelId="{6F44D333-5F0E-4683-BBA8-9FF37810C746}" type="presParOf" srcId="{AEE99249-82D2-430B-9E63-D6C79DF9E0D4}" destId="{DB152815-1D4A-460C-943F-3C9C0CAE030B}" srcOrd="1" destOrd="0" presId="urn:microsoft.com/office/officeart/2009/3/layout/HorizontalOrganizationChart"/>
    <dgm:cxn modelId="{B0E5ABDC-AA82-4DDD-8004-20EBB3BBE568}" type="presParOf" srcId="{AEE99249-82D2-430B-9E63-D6C79DF9E0D4}" destId="{A4123D3F-816F-499A-935D-453277C49D68}" srcOrd="2" destOrd="0" presId="urn:microsoft.com/office/officeart/2009/3/layout/HorizontalOrganizationChar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6FC8B7-1A2B-4E1A-8ACD-A88D883AA589}">
      <dsp:nvSpPr>
        <dsp:cNvPr id="0" name=""/>
        <dsp:cNvSpPr/>
      </dsp:nvSpPr>
      <dsp:spPr>
        <a:xfrm rot="5400000">
          <a:off x="-211596" y="213202"/>
          <a:ext cx="1410642" cy="987449"/>
        </a:xfrm>
        <a:prstGeom prst="chevron">
          <a:avLst/>
        </a:prstGeom>
        <a:solidFill>
          <a:schemeClr val="accent2">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Assumptions</a:t>
          </a:r>
          <a:endParaRPr lang="en-IN" sz="1300" kern="1200" dirty="0"/>
        </a:p>
      </dsp:txBody>
      <dsp:txXfrm rot="-5400000">
        <a:off x="1" y="495331"/>
        <a:ext cx="987449" cy="423193"/>
      </dsp:txXfrm>
    </dsp:sp>
    <dsp:sp modelId="{66416A9C-2EE9-465F-A93A-A7FA72D10FDC}">
      <dsp:nvSpPr>
        <dsp:cNvPr id="0" name=""/>
        <dsp:cNvSpPr/>
      </dsp:nvSpPr>
      <dsp:spPr>
        <a:xfrm rot="5400000">
          <a:off x="3510303" y="-2521247"/>
          <a:ext cx="916917" cy="5962625"/>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Mock data sufficiently represents CRM/KYC environment</a:t>
          </a:r>
          <a:endParaRPr lang="en-IN" sz="1600" kern="1200" dirty="0"/>
        </a:p>
        <a:p>
          <a:pPr marL="171450" lvl="1" indent="-171450" algn="l" defTabSz="711200">
            <a:lnSpc>
              <a:spcPct val="90000"/>
            </a:lnSpc>
            <a:spcBef>
              <a:spcPct val="0"/>
            </a:spcBef>
            <a:spcAft>
              <a:spcPct val="15000"/>
            </a:spcAft>
            <a:buChar char="•"/>
          </a:pPr>
          <a:r>
            <a:rPr lang="en-US" sz="1600" kern="1200" dirty="0"/>
            <a:t>Document uploaded are in supported formats</a:t>
          </a:r>
          <a:endParaRPr lang="en-IN" sz="1600" kern="1200" dirty="0"/>
        </a:p>
      </dsp:txBody>
      <dsp:txXfrm rot="-5400000">
        <a:off x="987449" y="46367"/>
        <a:ext cx="5917865" cy="827397"/>
      </dsp:txXfrm>
    </dsp:sp>
    <dsp:sp modelId="{EBC1895B-74D4-4632-AED8-AF74D2D8039E}">
      <dsp:nvSpPr>
        <dsp:cNvPr id="0" name=""/>
        <dsp:cNvSpPr/>
      </dsp:nvSpPr>
      <dsp:spPr>
        <a:xfrm rot="5400000">
          <a:off x="-211596" y="1427150"/>
          <a:ext cx="1410642" cy="987449"/>
        </a:xfrm>
        <a:prstGeom prst="chevron">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Constraints</a:t>
          </a:r>
          <a:endParaRPr lang="en-IN" sz="1300" kern="1200" dirty="0"/>
        </a:p>
      </dsp:txBody>
      <dsp:txXfrm rot="-5400000">
        <a:off x="1" y="1709279"/>
        <a:ext cx="987449" cy="423193"/>
      </dsp:txXfrm>
    </dsp:sp>
    <dsp:sp modelId="{920AC910-7499-45ED-915B-2E07D1C25199}">
      <dsp:nvSpPr>
        <dsp:cNvPr id="0" name=""/>
        <dsp:cNvSpPr/>
      </dsp:nvSpPr>
      <dsp:spPr>
        <a:xfrm rot="5400000">
          <a:off x="3510303" y="-1307300"/>
          <a:ext cx="916917" cy="5962625"/>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No access to real bureau APIs</a:t>
          </a:r>
          <a:endParaRPr lang="en-IN" sz="1600" kern="1200" dirty="0"/>
        </a:p>
        <a:p>
          <a:pPr marL="171450" lvl="1" indent="-171450" algn="l" defTabSz="711200">
            <a:lnSpc>
              <a:spcPct val="90000"/>
            </a:lnSpc>
            <a:spcBef>
              <a:spcPct val="0"/>
            </a:spcBef>
            <a:spcAft>
              <a:spcPct val="15000"/>
            </a:spcAft>
            <a:buChar char="•"/>
          </a:pPr>
          <a:r>
            <a:rPr lang="en-US" sz="1600" kern="1200" dirty="0"/>
            <a:t>Only mock credit scores used</a:t>
          </a:r>
          <a:endParaRPr lang="en-IN" sz="1600" kern="1200" dirty="0"/>
        </a:p>
        <a:p>
          <a:pPr marL="171450" lvl="1" indent="-171450" algn="l" defTabSz="711200">
            <a:lnSpc>
              <a:spcPct val="90000"/>
            </a:lnSpc>
            <a:spcBef>
              <a:spcPct val="0"/>
            </a:spcBef>
            <a:spcAft>
              <a:spcPct val="15000"/>
            </a:spcAft>
            <a:buChar char="•"/>
          </a:pPr>
          <a:r>
            <a:rPr lang="en-US" sz="1600" kern="1200" dirty="0"/>
            <a:t>Rule-engine style eligibility (no ML due to time constraints)</a:t>
          </a:r>
          <a:endParaRPr lang="en-IN" sz="1600" kern="1200" dirty="0"/>
        </a:p>
      </dsp:txBody>
      <dsp:txXfrm rot="-5400000">
        <a:off x="987449" y="1260314"/>
        <a:ext cx="5917865" cy="827397"/>
      </dsp:txXfrm>
    </dsp:sp>
    <dsp:sp modelId="{A2BD3F31-1765-47EA-9944-658C158DCDBC}">
      <dsp:nvSpPr>
        <dsp:cNvPr id="0" name=""/>
        <dsp:cNvSpPr/>
      </dsp:nvSpPr>
      <dsp:spPr>
        <a:xfrm rot="5400000">
          <a:off x="-211596" y="2641097"/>
          <a:ext cx="1410642" cy="987449"/>
        </a:xfrm>
        <a:prstGeom prst="chevron">
          <a:avLst/>
        </a:prstGeom>
        <a:solidFill>
          <a:schemeClr val="accent4">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US" sz="1300" kern="1200" dirty="0"/>
            <a:t>Decision Points</a:t>
          </a:r>
          <a:endParaRPr lang="en-IN" sz="1300" kern="1200" dirty="0"/>
        </a:p>
      </dsp:txBody>
      <dsp:txXfrm rot="-5400000">
        <a:off x="1" y="2923226"/>
        <a:ext cx="987449" cy="423193"/>
      </dsp:txXfrm>
    </dsp:sp>
    <dsp:sp modelId="{12B4B0F4-301F-4138-AB0E-EC3676DA11A3}">
      <dsp:nvSpPr>
        <dsp:cNvPr id="0" name=""/>
        <dsp:cNvSpPr/>
      </dsp:nvSpPr>
      <dsp:spPr>
        <a:xfrm rot="5400000">
          <a:off x="3510303" y="-93352"/>
          <a:ext cx="916917" cy="5962625"/>
        </a:xfrm>
        <a:prstGeom prst="round2SameRect">
          <a:avLst/>
        </a:prstGeom>
        <a:solidFill>
          <a:schemeClr val="lt1">
            <a:alpha val="90000"/>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Agentic architecture chosen for modularity</a:t>
          </a:r>
          <a:endParaRPr lang="en-IN" sz="1600" kern="1200" dirty="0"/>
        </a:p>
        <a:p>
          <a:pPr marL="171450" lvl="1" indent="-171450" algn="l" defTabSz="711200">
            <a:lnSpc>
              <a:spcPct val="90000"/>
            </a:lnSpc>
            <a:spcBef>
              <a:spcPct val="0"/>
            </a:spcBef>
            <a:spcAft>
              <a:spcPct val="15000"/>
            </a:spcAft>
            <a:buChar char="•"/>
          </a:pPr>
          <a:r>
            <a:rPr lang="en-US" sz="1600" kern="1200" dirty="0"/>
            <a:t>Rule engine ensures explainable decisions</a:t>
          </a:r>
          <a:endParaRPr lang="en-IN" sz="1600" kern="1200" dirty="0"/>
        </a:p>
        <a:p>
          <a:pPr marL="171450" lvl="1" indent="-171450" algn="l" defTabSz="711200">
            <a:lnSpc>
              <a:spcPct val="90000"/>
            </a:lnSpc>
            <a:spcBef>
              <a:spcPct val="0"/>
            </a:spcBef>
            <a:spcAft>
              <a:spcPct val="15000"/>
            </a:spcAft>
            <a:buChar char="•"/>
          </a:pPr>
          <a:r>
            <a:rPr lang="en-US" sz="1600" kern="1200" dirty="0" err="1"/>
            <a:t>Streamlit</a:t>
          </a:r>
          <a:r>
            <a:rPr lang="en-US" sz="1600" kern="1200" dirty="0"/>
            <a:t> selected for fastest demo-ready UI</a:t>
          </a:r>
          <a:endParaRPr lang="en-IN" sz="1600" kern="1200" dirty="0"/>
        </a:p>
      </dsp:txBody>
      <dsp:txXfrm rot="-5400000">
        <a:off x="987449" y="2474262"/>
        <a:ext cx="5917865" cy="8273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1F1B5-3FFE-4B1A-9494-F35F960D770F}">
      <dsp:nvSpPr>
        <dsp:cNvPr id="0" name=""/>
        <dsp:cNvSpPr/>
      </dsp:nvSpPr>
      <dsp:spPr>
        <a:xfrm>
          <a:off x="2391916" y="1828492"/>
          <a:ext cx="1672083" cy="149293"/>
        </a:xfrm>
        <a:custGeom>
          <a:avLst/>
          <a:gdLst/>
          <a:ahLst/>
          <a:cxnLst/>
          <a:rect l="0" t="0" r="0" b="0"/>
          <a:pathLst>
            <a:path>
              <a:moveTo>
                <a:pt x="0" y="149293"/>
              </a:moveTo>
              <a:lnTo>
                <a:pt x="1672083" y="149293"/>
              </a:lnTo>
              <a:lnTo>
                <a:pt x="1672083" y="0"/>
              </a:lnTo>
            </a:path>
          </a:pathLst>
        </a:custGeom>
        <a:noFill/>
        <a:ln w="12700" cap="flat" cmpd="sng" algn="ctr">
          <a:solidFill>
            <a:schemeClr val="accent5">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748E8598-4C13-4136-AF7E-5F85BA238743}">
      <dsp:nvSpPr>
        <dsp:cNvPr id="0" name=""/>
        <dsp:cNvSpPr/>
      </dsp:nvSpPr>
      <dsp:spPr>
        <a:xfrm>
          <a:off x="2391916" y="1977786"/>
          <a:ext cx="3344167" cy="1027137"/>
        </a:xfrm>
        <a:custGeom>
          <a:avLst/>
          <a:gdLst/>
          <a:ahLst/>
          <a:cxnLst/>
          <a:rect l="0" t="0" r="0" b="0"/>
          <a:pathLst>
            <a:path>
              <a:moveTo>
                <a:pt x="0" y="0"/>
              </a:moveTo>
              <a:lnTo>
                <a:pt x="3105298" y="0"/>
              </a:lnTo>
              <a:lnTo>
                <a:pt x="3105298" y="1027137"/>
              </a:lnTo>
              <a:lnTo>
                <a:pt x="3344167" y="1027137"/>
              </a:lnTo>
            </a:path>
          </a:pathLst>
        </a:custGeom>
        <a:noFill/>
        <a:ln w="12700" cap="flat" cmpd="sng" algn="ctr">
          <a:solidFill>
            <a:schemeClr val="accent5">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4EF0417D-0ABB-4183-B077-7A88209CA00F}">
      <dsp:nvSpPr>
        <dsp:cNvPr id="0" name=""/>
        <dsp:cNvSpPr/>
      </dsp:nvSpPr>
      <dsp:spPr>
        <a:xfrm>
          <a:off x="2391916" y="1932065"/>
          <a:ext cx="3344167" cy="91440"/>
        </a:xfrm>
        <a:custGeom>
          <a:avLst/>
          <a:gdLst/>
          <a:ahLst/>
          <a:cxnLst/>
          <a:rect l="0" t="0" r="0" b="0"/>
          <a:pathLst>
            <a:path>
              <a:moveTo>
                <a:pt x="0" y="45720"/>
              </a:moveTo>
              <a:lnTo>
                <a:pt x="3344167" y="45720"/>
              </a:lnTo>
            </a:path>
          </a:pathLst>
        </a:custGeom>
        <a:noFill/>
        <a:ln w="12700" cap="flat" cmpd="sng" algn="ctr">
          <a:solidFill>
            <a:schemeClr val="accent5">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E8701B63-3DF3-4A8D-B8E6-1B3E461FEE68}">
      <dsp:nvSpPr>
        <dsp:cNvPr id="0" name=""/>
        <dsp:cNvSpPr/>
      </dsp:nvSpPr>
      <dsp:spPr>
        <a:xfrm>
          <a:off x="2391916" y="950648"/>
          <a:ext cx="3344167" cy="1027137"/>
        </a:xfrm>
        <a:custGeom>
          <a:avLst/>
          <a:gdLst/>
          <a:ahLst/>
          <a:cxnLst/>
          <a:rect l="0" t="0" r="0" b="0"/>
          <a:pathLst>
            <a:path>
              <a:moveTo>
                <a:pt x="0" y="1027137"/>
              </a:moveTo>
              <a:lnTo>
                <a:pt x="3105298" y="1027137"/>
              </a:lnTo>
              <a:lnTo>
                <a:pt x="3105298" y="0"/>
              </a:lnTo>
              <a:lnTo>
                <a:pt x="3344167" y="0"/>
              </a:lnTo>
            </a:path>
          </a:pathLst>
        </a:custGeom>
        <a:noFill/>
        <a:ln w="12700" cap="flat" cmpd="sng" algn="ctr">
          <a:solidFill>
            <a:schemeClr val="accent5">
              <a:hueOff val="0"/>
              <a:satOff val="0"/>
              <a:lumOff val="0"/>
              <a:alphaOff val="0"/>
            </a:schemeClr>
          </a:solidFill>
          <a:prstDash val="solid"/>
          <a:miter lim="800000"/>
        </a:ln>
        <a:effectLst/>
        <a:scene3d>
          <a:camera prst="orthographicFront">
            <a:rot lat="0" lon="0" rev="0"/>
          </a:camera>
          <a:lightRig rig="contrasting" dir="t">
            <a:rot lat="0" lon="0" rev="1200000"/>
          </a:lightRig>
        </a:scene3d>
        <a:sp3d z="-110000"/>
      </dsp:spPr>
      <dsp:style>
        <a:lnRef idx="2">
          <a:scrgbClr r="0" g="0" b="0"/>
        </a:lnRef>
        <a:fillRef idx="0">
          <a:scrgbClr r="0" g="0" b="0"/>
        </a:fillRef>
        <a:effectRef idx="0">
          <a:scrgbClr r="0" g="0" b="0"/>
        </a:effectRef>
        <a:fontRef idx="minor"/>
      </dsp:style>
    </dsp:sp>
    <dsp:sp modelId="{C2F7ADBA-3F0C-482A-B9F3-4926A87AFE9A}">
      <dsp:nvSpPr>
        <dsp:cNvPr id="0" name=""/>
        <dsp:cNvSpPr/>
      </dsp:nvSpPr>
      <dsp:spPr>
        <a:xfrm>
          <a:off x="3224" y="1613510"/>
          <a:ext cx="2388691" cy="728550"/>
        </a:xfrm>
        <a:prstGeom prst="rect">
          <a:avLst/>
        </a:prstGeom>
        <a:solidFill>
          <a:schemeClr val="accent3">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Chat interface</a:t>
          </a:r>
          <a:endParaRPr lang="en-IN" sz="2300" kern="1200" dirty="0"/>
        </a:p>
      </dsp:txBody>
      <dsp:txXfrm>
        <a:off x="3224" y="1613510"/>
        <a:ext cx="2388691" cy="728550"/>
      </dsp:txXfrm>
    </dsp:sp>
    <dsp:sp modelId="{9ED6FED6-9528-4CAE-B159-85A0385DF6D5}">
      <dsp:nvSpPr>
        <dsp:cNvPr id="0" name=""/>
        <dsp:cNvSpPr/>
      </dsp:nvSpPr>
      <dsp:spPr>
        <a:xfrm>
          <a:off x="5736083" y="586373"/>
          <a:ext cx="2388691" cy="728550"/>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KYC check</a:t>
          </a:r>
          <a:endParaRPr lang="en-IN" sz="2300" kern="1200" dirty="0"/>
        </a:p>
      </dsp:txBody>
      <dsp:txXfrm>
        <a:off x="5736083" y="586373"/>
        <a:ext cx="2388691" cy="728550"/>
      </dsp:txXfrm>
    </dsp:sp>
    <dsp:sp modelId="{2A88C1E4-97A1-444E-A6CA-A083A087FA7D}">
      <dsp:nvSpPr>
        <dsp:cNvPr id="0" name=""/>
        <dsp:cNvSpPr/>
      </dsp:nvSpPr>
      <dsp:spPr>
        <a:xfrm>
          <a:off x="5736083" y="1613510"/>
          <a:ext cx="2388691" cy="728550"/>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Underwriting decision</a:t>
          </a:r>
          <a:endParaRPr lang="en-IN" sz="2300" kern="1200" dirty="0"/>
        </a:p>
      </dsp:txBody>
      <dsp:txXfrm>
        <a:off x="5736083" y="1613510"/>
        <a:ext cx="2388691" cy="728550"/>
      </dsp:txXfrm>
    </dsp:sp>
    <dsp:sp modelId="{DF89E68F-03A6-4073-82C8-B6545DDE6A82}">
      <dsp:nvSpPr>
        <dsp:cNvPr id="0" name=""/>
        <dsp:cNvSpPr/>
      </dsp:nvSpPr>
      <dsp:spPr>
        <a:xfrm>
          <a:off x="5736083" y="2640647"/>
          <a:ext cx="2388691" cy="728550"/>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Audit log outputs</a:t>
          </a:r>
          <a:endParaRPr lang="en-IN" sz="2300" kern="1200" dirty="0"/>
        </a:p>
      </dsp:txBody>
      <dsp:txXfrm>
        <a:off x="5736083" y="2640647"/>
        <a:ext cx="2388691" cy="728550"/>
      </dsp:txXfrm>
    </dsp:sp>
    <dsp:sp modelId="{448415AB-562A-4550-A9C0-4538A98E9A2C}">
      <dsp:nvSpPr>
        <dsp:cNvPr id="0" name=""/>
        <dsp:cNvSpPr/>
      </dsp:nvSpPr>
      <dsp:spPr>
        <a:xfrm>
          <a:off x="2869654" y="1099941"/>
          <a:ext cx="2388691" cy="728550"/>
        </a:xfrm>
        <a:prstGeom prst="rect">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a:lnSpc>
              <a:spcPct val="90000"/>
            </a:lnSpc>
            <a:spcBef>
              <a:spcPct val="0"/>
            </a:spcBef>
            <a:spcAft>
              <a:spcPct val="35000"/>
            </a:spcAft>
            <a:buNone/>
          </a:pPr>
          <a:r>
            <a:rPr lang="en-US" sz="2300" kern="1200" dirty="0"/>
            <a:t>Document upload flow</a:t>
          </a:r>
          <a:endParaRPr lang="en-IN" sz="2300" kern="1200" dirty="0"/>
        </a:p>
      </dsp:txBody>
      <dsp:txXfrm>
        <a:off x="2869654" y="1099941"/>
        <a:ext cx="2388691" cy="728550"/>
      </dsp:txXfrm>
    </dsp:sp>
  </dsp:spTree>
</dsp:drawing>
</file>

<file path=ppt/diagrams/layout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2/9/2026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2/9/2026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9</a:t>
            </a:fld>
            <a:endParaRPr lang="en-US" noProof="0" dirty="0"/>
          </a:p>
        </p:txBody>
      </p:sp>
    </p:spTree>
    <p:extLst>
      <p:ext uri="{BB962C8B-B14F-4D97-AF65-F5344CB8AC3E}">
        <p14:creationId xmlns:p14="http://schemas.microsoft.com/office/powerpoint/2010/main" val="42099865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10</a:t>
            </a:fld>
            <a:endParaRPr lang="en-US" noProof="0" dirty="0"/>
          </a:p>
        </p:txBody>
      </p:sp>
    </p:spTree>
    <p:extLst>
      <p:ext uri="{BB962C8B-B14F-4D97-AF65-F5344CB8AC3E}">
        <p14:creationId xmlns:p14="http://schemas.microsoft.com/office/powerpoint/2010/main" val="23327485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12</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creativecommons.org/licenses/by-nc-sa/3.0/" TargetMode="External"/><Relationship Id="rId4" Type="http://schemas.openxmlformats.org/officeDocument/2006/relationships/hyperlink" Target="https://loquesigue.tv/character-ai-y-las-poblaciones-vulnerables/"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hyperlink" Target="https://pixabay.com/en/blockchain-block-chain-technology-3019120/" TargetMode="Externa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docs.live.net/b3d77f15598b4666/Desktop/assignments/video.mp4" TargetMode="Externa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hyperlink" Target="https://www.linkedin.com/posts/flarance-rani-nandigama-ba62a2325_excited-to-share-a-demo-of-my-ai-driven-loan-activity-7407065863121539072-LVhB?utm_source=share&amp;utm_medium=member_desktop&amp;rcm=ACoAAFIXJi4B0vOsF8lEACP14zeMUfWtvF2M5gc" TargetMode="External"/><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a:t>AI-Driven </a:t>
            </a:r>
            <a:r>
              <a:rPr lang="en-US" dirty="0"/>
              <a:t>Loan Sales Chatbot for Tata Capital </a:t>
            </a:r>
          </a:p>
        </p:txBody>
      </p:sp>
    </p:spTree>
    <p:extLst>
      <p:ext uri="{BB962C8B-B14F-4D97-AF65-F5344CB8AC3E}">
        <p14:creationId xmlns:p14="http://schemas.microsoft.com/office/powerpoint/2010/main" val="133816713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030-1B40-A366-FF77-510275932BDE}"/>
              </a:ext>
            </a:extLst>
          </p:cNvPr>
          <p:cNvSpPr>
            <a:spLocks noGrp="1"/>
          </p:cNvSpPr>
          <p:nvPr>
            <p:ph type="ctrTitle"/>
          </p:nvPr>
        </p:nvSpPr>
        <p:spPr/>
        <p:txBody>
          <a:bodyPr/>
          <a:lstStyle/>
          <a:p>
            <a:endParaRPr lang="en-IN" dirty="0"/>
          </a:p>
        </p:txBody>
      </p:sp>
      <p:sp>
        <p:nvSpPr>
          <p:cNvPr id="7" name="Rectangle: Rounded Corners 6">
            <a:extLst>
              <a:ext uri="{FF2B5EF4-FFF2-40B4-BE49-F238E27FC236}">
                <a16:creationId xmlns:a16="http://schemas.microsoft.com/office/drawing/2014/main" id="{F6C3FB73-DB9F-FA03-36DC-3EC9ADF6DDB0}"/>
              </a:ext>
            </a:extLst>
          </p:cNvPr>
          <p:cNvSpPr/>
          <p:nvPr/>
        </p:nvSpPr>
        <p:spPr>
          <a:xfrm>
            <a:off x="1143484" y="1939413"/>
            <a:ext cx="1671484" cy="3736258"/>
          </a:xfrm>
          <a:prstGeom prst="roundRect">
            <a:avLst/>
          </a:prstGeom>
          <a:ln>
            <a:noFill/>
          </a:ln>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1600" dirty="0" err="1">
                <a:solidFill>
                  <a:schemeClr val="accent6">
                    <a:lumMod val="10000"/>
                  </a:schemeClr>
                </a:solidFill>
              </a:rPr>
              <a:t>Flarance</a:t>
            </a:r>
            <a:r>
              <a:rPr lang="en-US" sz="1600" dirty="0">
                <a:solidFill>
                  <a:schemeClr val="accent6">
                    <a:lumMod val="10000"/>
                  </a:schemeClr>
                </a:solidFill>
              </a:rPr>
              <a:t> Rani </a:t>
            </a:r>
            <a:r>
              <a:rPr lang="en-US" sz="1600" dirty="0" err="1">
                <a:solidFill>
                  <a:schemeClr val="accent6">
                    <a:lumMod val="10000"/>
                  </a:schemeClr>
                </a:solidFill>
              </a:rPr>
              <a:t>Nandigama</a:t>
            </a:r>
            <a:endParaRPr lang="en-US" sz="1600" dirty="0">
              <a:solidFill>
                <a:schemeClr val="accent6">
                  <a:lumMod val="10000"/>
                </a:schemeClr>
              </a:solidFill>
            </a:endParaRPr>
          </a:p>
          <a:p>
            <a:pPr marL="285750" indent="-285750">
              <a:buFont typeface="Courier New" panose="02070309020205020404" pitchFamily="49" charset="0"/>
              <a:buChar char="o"/>
            </a:pPr>
            <a:r>
              <a:rPr lang="en-US" sz="1600" dirty="0">
                <a:solidFill>
                  <a:schemeClr val="accent6">
                    <a:lumMod val="10000"/>
                  </a:schemeClr>
                </a:solidFill>
              </a:rPr>
              <a:t>Vignan Lara Institute of technology and science (VLITS)</a:t>
            </a:r>
          </a:p>
          <a:p>
            <a:pPr marL="285750" indent="-285750">
              <a:buFont typeface="Courier New" panose="02070309020205020404" pitchFamily="49" charset="0"/>
              <a:buChar char="o"/>
            </a:pPr>
            <a:r>
              <a:rPr lang="en-US" sz="1600" dirty="0">
                <a:solidFill>
                  <a:schemeClr val="accent6">
                    <a:lumMod val="10000"/>
                  </a:schemeClr>
                </a:solidFill>
              </a:rPr>
              <a:t>9398446419</a:t>
            </a:r>
          </a:p>
        </p:txBody>
      </p:sp>
      <p:sp>
        <p:nvSpPr>
          <p:cNvPr id="8" name="Rectangle: Rounded Corners 7">
            <a:extLst>
              <a:ext uri="{FF2B5EF4-FFF2-40B4-BE49-F238E27FC236}">
                <a16:creationId xmlns:a16="http://schemas.microsoft.com/office/drawing/2014/main" id="{D3170F1F-7B61-38F2-68AD-E5B5CD1817F3}"/>
              </a:ext>
            </a:extLst>
          </p:cNvPr>
          <p:cNvSpPr/>
          <p:nvPr/>
        </p:nvSpPr>
        <p:spPr>
          <a:xfrm>
            <a:off x="3056518" y="1939413"/>
            <a:ext cx="1671484" cy="3736258"/>
          </a:xfrm>
          <a:prstGeom prst="roundRect">
            <a:avLst/>
          </a:prstGeom>
          <a:effectLst>
            <a:glow rad="228600">
              <a:schemeClr val="accent2">
                <a:satMod val="175000"/>
                <a:alpha val="40000"/>
              </a:schemeClr>
            </a:glo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a:buFont typeface="Courier New" panose="02070309020205020404" pitchFamily="49" charset="0"/>
              <a:buChar char="o"/>
            </a:pPr>
            <a:r>
              <a:rPr lang="en-US" sz="1600" dirty="0">
                <a:solidFill>
                  <a:schemeClr val="accent6">
                    <a:lumMod val="10000"/>
                  </a:schemeClr>
                </a:solidFill>
              </a:rPr>
              <a:t>Devi </a:t>
            </a:r>
            <a:r>
              <a:rPr lang="en-US" sz="1600" dirty="0" err="1">
                <a:solidFill>
                  <a:schemeClr val="accent6">
                    <a:lumMod val="10000"/>
                  </a:schemeClr>
                </a:solidFill>
              </a:rPr>
              <a:t>Trushitha</a:t>
            </a:r>
            <a:r>
              <a:rPr lang="en-US" sz="1600" dirty="0">
                <a:solidFill>
                  <a:schemeClr val="accent6">
                    <a:lumMod val="10000"/>
                  </a:schemeClr>
                </a:solidFill>
              </a:rPr>
              <a:t> </a:t>
            </a:r>
            <a:r>
              <a:rPr lang="en-US" sz="1600" dirty="0" err="1">
                <a:solidFill>
                  <a:schemeClr val="accent6">
                    <a:lumMod val="10000"/>
                  </a:schemeClr>
                </a:solidFill>
              </a:rPr>
              <a:t>Munakala</a:t>
            </a:r>
            <a:endParaRPr lang="en-US" sz="1600" dirty="0">
              <a:solidFill>
                <a:schemeClr val="accent6">
                  <a:lumMod val="10000"/>
                </a:schemeClr>
              </a:solidFill>
            </a:endParaRPr>
          </a:p>
          <a:p>
            <a:pPr marL="285750" indent="-285750">
              <a:buFont typeface="Courier New" panose="02070309020205020404" pitchFamily="49" charset="0"/>
              <a:buChar char="o"/>
            </a:pPr>
            <a:r>
              <a:rPr lang="en-US" sz="1600" dirty="0">
                <a:solidFill>
                  <a:schemeClr val="accent6">
                    <a:lumMod val="10000"/>
                  </a:schemeClr>
                </a:solidFill>
              </a:rPr>
              <a:t>Vignan Lara Institute of technology and science (VLITS)</a:t>
            </a:r>
          </a:p>
          <a:p>
            <a:pPr marL="285750" indent="-285750">
              <a:buFont typeface="Courier New" panose="02070309020205020404" pitchFamily="49" charset="0"/>
              <a:buChar char="o"/>
            </a:pPr>
            <a:r>
              <a:rPr lang="en-US" sz="1600" dirty="0">
                <a:solidFill>
                  <a:schemeClr val="accent6">
                    <a:lumMod val="10000"/>
                  </a:schemeClr>
                </a:solidFill>
              </a:rPr>
              <a:t>8555893662</a:t>
            </a:r>
          </a:p>
          <a:p>
            <a:pPr marL="285750" indent="-285750">
              <a:buFont typeface="Courier New" panose="02070309020205020404" pitchFamily="49" charset="0"/>
              <a:buChar char="o"/>
            </a:pPr>
            <a:endParaRPr lang="en-US" dirty="0">
              <a:solidFill>
                <a:schemeClr val="accent6">
                  <a:lumMod val="10000"/>
                </a:schemeClr>
              </a:solidFill>
            </a:endParaRPr>
          </a:p>
          <a:p>
            <a:pPr marL="285750" indent="-285750">
              <a:buFont typeface="Courier New" panose="02070309020205020404" pitchFamily="49" charset="0"/>
              <a:buChar char="o"/>
            </a:pPr>
            <a:endParaRPr lang="en-IN" dirty="0">
              <a:solidFill>
                <a:schemeClr val="accent6">
                  <a:lumMod val="10000"/>
                </a:schemeClr>
              </a:solidFill>
            </a:endParaRPr>
          </a:p>
        </p:txBody>
      </p:sp>
      <p:sp>
        <p:nvSpPr>
          <p:cNvPr id="9" name="Rectangle: Rounded Corners 8">
            <a:extLst>
              <a:ext uri="{FF2B5EF4-FFF2-40B4-BE49-F238E27FC236}">
                <a16:creationId xmlns:a16="http://schemas.microsoft.com/office/drawing/2014/main" id="{7C7AF691-6B11-E2BB-DB78-F7B0F30C1F67}"/>
              </a:ext>
            </a:extLst>
          </p:cNvPr>
          <p:cNvSpPr/>
          <p:nvPr/>
        </p:nvSpPr>
        <p:spPr>
          <a:xfrm>
            <a:off x="5066345" y="1939413"/>
            <a:ext cx="1671484" cy="3736258"/>
          </a:xfrm>
          <a:prstGeom prst="roundRect">
            <a:avLst/>
          </a:prstGeom>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1600" dirty="0" err="1">
                <a:solidFill>
                  <a:schemeClr val="accent6">
                    <a:lumMod val="10000"/>
                  </a:schemeClr>
                </a:solidFill>
              </a:rPr>
              <a:t>Paleru</a:t>
            </a:r>
            <a:r>
              <a:rPr lang="en-US" sz="1600" dirty="0">
                <a:solidFill>
                  <a:schemeClr val="accent6">
                    <a:lumMod val="10000"/>
                  </a:schemeClr>
                </a:solidFill>
              </a:rPr>
              <a:t> Venkata Sravya Reddy</a:t>
            </a:r>
          </a:p>
          <a:p>
            <a:pPr marL="285750" indent="-285750">
              <a:buFont typeface="Courier New" panose="02070309020205020404" pitchFamily="49" charset="0"/>
              <a:buChar char="o"/>
            </a:pPr>
            <a:r>
              <a:rPr lang="en-US" sz="1600" dirty="0">
                <a:solidFill>
                  <a:schemeClr val="accent6">
                    <a:lumMod val="10000"/>
                  </a:schemeClr>
                </a:solidFill>
              </a:rPr>
              <a:t>Vignan Lara Institute of technology and science (VLITS)</a:t>
            </a:r>
          </a:p>
          <a:p>
            <a:pPr marL="285750" indent="-285750">
              <a:buFont typeface="Courier New" panose="02070309020205020404" pitchFamily="49" charset="0"/>
              <a:buChar char="o"/>
            </a:pPr>
            <a:r>
              <a:rPr lang="en-US" sz="1600" dirty="0">
                <a:solidFill>
                  <a:schemeClr val="accent6">
                    <a:lumMod val="10000"/>
                  </a:schemeClr>
                </a:solidFill>
              </a:rPr>
              <a:t>9391177059</a:t>
            </a:r>
          </a:p>
          <a:p>
            <a:pPr marL="285750" indent="-285750">
              <a:buFont typeface="Courier New" panose="02070309020205020404" pitchFamily="49" charset="0"/>
              <a:buChar char="o"/>
            </a:pPr>
            <a:endParaRPr lang="en-IN" sz="1600" dirty="0">
              <a:solidFill>
                <a:schemeClr val="accent6">
                  <a:lumMod val="10000"/>
                </a:schemeClr>
              </a:solidFill>
            </a:endParaRPr>
          </a:p>
        </p:txBody>
      </p:sp>
      <p:sp>
        <p:nvSpPr>
          <p:cNvPr id="10" name="Rectangle: Rounded Corners 9">
            <a:extLst>
              <a:ext uri="{FF2B5EF4-FFF2-40B4-BE49-F238E27FC236}">
                <a16:creationId xmlns:a16="http://schemas.microsoft.com/office/drawing/2014/main" id="{1B98EE9D-05E0-6CB3-7EDD-CFD1DDB82553}"/>
              </a:ext>
            </a:extLst>
          </p:cNvPr>
          <p:cNvSpPr/>
          <p:nvPr/>
        </p:nvSpPr>
        <p:spPr>
          <a:xfrm>
            <a:off x="6920490" y="1939413"/>
            <a:ext cx="1671484" cy="3736258"/>
          </a:xfrm>
          <a:prstGeom prst="roundRect">
            <a:avLst/>
          </a:prstGeom>
          <a:effectLst>
            <a:glow rad="228600">
              <a:schemeClr val="accent2">
                <a:satMod val="175000"/>
                <a:alpha val="40000"/>
              </a:schemeClr>
            </a:glow>
          </a:effectLst>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marL="285750" indent="-285750">
              <a:buFont typeface="Courier New" panose="02070309020205020404" pitchFamily="49" charset="0"/>
              <a:buChar char="o"/>
            </a:pPr>
            <a:r>
              <a:rPr lang="en-US" sz="1600" dirty="0" err="1">
                <a:solidFill>
                  <a:schemeClr val="accent6">
                    <a:lumMod val="10000"/>
                  </a:schemeClr>
                </a:solidFill>
              </a:rPr>
              <a:t>Shafiya</a:t>
            </a:r>
            <a:r>
              <a:rPr lang="en-US" sz="1600" dirty="0">
                <a:solidFill>
                  <a:schemeClr val="accent6">
                    <a:lumMod val="10000"/>
                  </a:schemeClr>
                </a:solidFill>
              </a:rPr>
              <a:t> Noor Basha</a:t>
            </a:r>
          </a:p>
          <a:p>
            <a:pPr marL="285750" indent="-285750">
              <a:buFont typeface="Courier New" panose="02070309020205020404" pitchFamily="49" charset="0"/>
              <a:buChar char="o"/>
            </a:pPr>
            <a:r>
              <a:rPr lang="en-US" sz="1600" dirty="0">
                <a:solidFill>
                  <a:schemeClr val="accent6">
                    <a:lumMod val="10000"/>
                  </a:schemeClr>
                </a:solidFill>
              </a:rPr>
              <a:t>Vignan Lara Institute of technology and science (VLITS)</a:t>
            </a:r>
          </a:p>
          <a:p>
            <a:pPr marL="285750" indent="-285750">
              <a:buFont typeface="Courier New" panose="02070309020205020404" pitchFamily="49" charset="0"/>
              <a:buChar char="o"/>
            </a:pPr>
            <a:r>
              <a:rPr lang="en-US" sz="1600" dirty="0">
                <a:solidFill>
                  <a:schemeClr val="accent6">
                    <a:lumMod val="10000"/>
                  </a:schemeClr>
                </a:solidFill>
              </a:rPr>
              <a:t>6303332526</a:t>
            </a:r>
          </a:p>
          <a:p>
            <a:pPr marL="285750" indent="-285750">
              <a:buFont typeface="Courier New" panose="02070309020205020404" pitchFamily="49" charset="0"/>
              <a:buChar char="o"/>
            </a:pPr>
            <a:endParaRPr lang="en-IN" dirty="0">
              <a:solidFill>
                <a:schemeClr val="accent6">
                  <a:lumMod val="10000"/>
                </a:schemeClr>
              </a:solidFill>
            </a:endParaRPr>
          </a:p>
        </p:txBody>
      </p:sp>
      <p:sp>
        <p:nvSpPr>
          <p:cNvPr id="12" name="Rectangle: Rounded Corners 11">
            <a:extLst>
              <a:ext uri="{FF2B5EF4-FFF2-40B4-BE49-F238E27FC236}">
                <a16:creationId xmlns:a16="http://schemas.microsoft.com/office/drawing/2014/main" id="{4B6259F5-8C4B-8AD6-B494-F8A894B7EB41}"/>
              </a:ext>
            </a:extLst>
          </p:cNvPr>
          <p:cNvSpPr/>
          <p:nvPr/>
        </p:nvSpPr>
        <p:spPr>
          <a:xfrm>
            <a:off x="8902137" y="1939413"/>
            <a:ext cx="1671484" cy="3736258"/>
          </a:xfrm>
          <a:prstGeom prst="roundRect">
            <a:avLst/>
          </a:prstGeom>
          <a:effectLst>
            <a:glow rad="2286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buFont typeface="Courier New" panose="02070309020205020404" pitchFamily="49" charset="0"/>
              <a:buChar char="o"/>
            </a:pPr>
            <a:r>
              <a:rPr lang="en-US" sz="1600" dirty="0">
                <a:solidFill>
                  <a:schemeClr val="accent6">
                    <a:lumMod val="10000"/>
                  </a:schemeClr>
                </a:solidFill>
              </a:rPr>
              <a:t>Harika </a:t>
            </a:r>
            <a:r>
              <a:rPr lang="en-US" sz="1600" dirty="0" err="1">
                <a:solidFill>
                  <a:schemeClr val="accent6">
                    <a:lumMod val="10000"/>
                  </a:schemeClr>
                </a:solidFill>
              </a:rPr>
              <a:t>munjeti</a:t>
            </a:r>
            <a:endParaRPr lang="en-US" sz="1600" dirty="0">
              <a:solidFill>
                <a:schemeClr val="accent6">
                  <a:lumMod val="10000"/>
                </a:schemeClr>
              </a:solidFill>
            </a:endParaRPr>
          </a:p>
          <a:p>
            <a:pPr marL="285750" indent="-285750">
              <a:buFont typeface="Courier New" panose="02070309020205020404" pitchFamily="49" charset="0"/>
              <a:buChar char="o"/>
            </a:pPr>
            <a:r>
              <a:rPr lang="en-US" sz="1600" dirty="0">
                <a:solidFill>
                  <a:schemeClr val="accent6">
                    <a:lumMod val="10000"/>
                  </a:schemeClr>
                </a:solidFill>
              </a:rPr>
              <a:t>Vignan Lara Institute of technology and science (VLITS)</a:t>
            </a:r>
          </a:p>
          <a:p>
            <a:pPr marL="285750" indent="-285750">
              <a:buFont typeface="Courier New" panose="02070309020205020404" pitchFamily="49" charset="0"/>
              <a:buChar char="o"/>
            </a:pPr>
            <a:r>
              <a:rPr lang="en-US" sz="1600" dirty="0">
                <a:solidFill>
                  <a:schemeClr val="accent6">
                    <a:lumMod val="10000"/>
                  </a:schemeClr>
                </a:solidFill>
              </a:rPr>
              <a:t>8688056315</a:t>
            </a:r>
          </a:p>
          <a:p>
            <a:pPr marL="285750" indent="-285750">
              <a:buFont typeface="Courier New" panose="02070309020205020404" pitchFamily="49" charset="0"/>
              <a:buChar char="o"/>
            </a:pPr>
            <a:endParaRPr lang="en-IN" sz="1600" dirty="0">
              <a:solidFill>
                <a:schemeClr val="accent6">
                  <a:lumMod val="10000"/>
                </a:schemeClr>
              </a:solidFill>
            </a:endParaRPr>
          </a:p>
        </p:txBody>
      </p:sp>
      <p:sp>
        <p:nvSpPr>
          <p:cNvPr id="13" name="Rectangle: Rounded Corners 12">
            <a:extLst>
              <a:ext uri="{FF2B5EF4-FFF2-40B4-BE49-F238E27FC236}">
                <a16:creationId xmlns:a16="http://schemas.microsoft.com/office/drawing/2014/main" id="{BF8E3610-2EDD-24A6-2784-21B5B904C6CE}"/>
              </a:ext>
            </a:extLst>
          </p:cNvPr>
          <p:cNvSpPr/>
          <p:nvPr/>
        </p:nvSpPr>
        <p:spPr>
          <a:xfrm>
            <a:off x="3923818" y="219919"/>
            <a:ext cx="3449255" cy="544010"/>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2400" b="1" dirty="0">
                <a:solidFill>
                  <a:schemeClr val="bg1">
                    <a:lumMod val="95000"/>
                  </a:schemeClr>
                </a:solidFill>
              </a:rPr>
              <a:t>The code commandos</a:t>
            </a:r>
            <a:endParaRPr lang="en-IN" sz="2400" b="1" dirty="0">
              <a:solidFill>
                <a:schemeClr val="bg1">
                  <a:lumMod val="95000"/>
                </a:schemeClr>
              </a:solidFill>
            </a:endParaRPr>
          </a:p>
        </p:txBody>
      </p:sp>
    </p:spTree>
    <p:extLst>
      <p:ext uri="{BB962C8B-B14F-4D97-AF65-F5344CB8AC3E}">
        <p14:creationId xmlns:p14="http://schemas.microsoft.com/office/powerpoint/2010/main" val="19266501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1000"/>
                                        <p:tgtEl>
                                          <p:spTgt spid="9"/>
                                        </p:tgtEl>
                                      </p:cBhvr>
                                    </p:animEffect>
                                    <p:anim calcmode="lin" valueType="num">
                                      <p:cBhvr>
                                        <p:cTn id="22" dur="1000" fill="hold"/>
                                        <p:tgtEl>
                                          <p:spTgt spid="9"/>
                                        </p:tgtEl>
                                        <p:attrNameLst>
                                          <p:attrName>ppt_x</p:attrName>
                                        </p:attrNameLst>
                                      </p:cBhvr>
                                      <p:tavLst>
                                        <p:tav tm="0">
                                          <p:val>
                                            <p:strVal val="#ppt_x"/>
                                          </p:val>
                                        </p:tav>
                                        <p:tav tm="100000">
                                          <p:val>
                                            <p:strVal val="#ppt_x"/>
                                          </p:val>
                                        </p:tav>
                                      </p:tavLst>
                                    </p:anim>
                                    <p:anim calcmode="lin" valueType="num">
                                      <p:cBhvr>
                                        <p:cTn id="2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1000"/>
                                        <p:tgtEl>
                                          <p:spTgt spid="10"/>
                                        </p:tgtEl>
                                      </p:cBhvr>
                                    </p:animEffect>
                                    <p:anim calcmode="lin" valueType="num">
                                      <p:cBhvr>
                                        <p:cTn id="29" dur="1000" fill="hold"/>
                                        <p:tgtEl>
                                          <p:spTgt spid="10"/>
                                        </p:tgtEl>
                                        <p:attrNameLst>
                                          <p:attrName>ppt_x</p:attrName>
                                        </p:attrNameLst>
                                      </p:cBhvr>
                                      <p:tavLst>
                                        <p:tav tm="0">
                                          <p:val>
                                            <p:strVal val="#ppt_x"/>
                                          </p:val>
                                        </p:tav>
                                        <p:tav tm="100000">
                                          <p:val>
                                            <p:strVal val="#ppt_x"/>
                                          </p:val>
                                        </p:tav>
                                      </p:tavLst>
                                    </p:anim>
                                    <p:anim calcmode="lin" valueType="num">
                                      <p:cBhvr>
                                        <p:cTn id="3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3EE45-3924-5A20-4FDE-7EA6BBEBD06F}"/>
              </a:ext>
            </a:extLst>
          </p:cNvPr>
          <p:cNvSpPr>
            <a:spLocks noGrp="1"/>
          </p:cNvSpPr>
          <p:nvPr>
            <p:ph type="title"/>
          </p:nvPr>
        </p:nvSpPr>
        <p:spPr>
          <a:xfrm>
            <a:off x="914400" y="914400"/>
            <a:ext cx="5641848" cy="5029200"/>
          </a:xfrm>
        </p:spPr>
        <p:txBody>
          <a:bodyPr/>
          <a:lstStyle/>
          <a:p>
            <a:pPr marL="285750" indent="-285750">
              <a:buFont typeface="Wingdings" panose="05000000000000000000" pitchFamily="2" charset="2"/>
              <a:buChar char="Ø"/>
            </a:pPr>
            <a:r>
              <a:rPr lang="en-US" sz="1800" b="1" dirty="0"/>
              <a:t>Industry Background</a:t>
            </a:r>
            <a:br>
              <a:rPr lang="en-US" sz="1800" b="1" dirty="0"/>
            </a:br>
            <a:r>
              <a:rPr lang="en-US" sz="1800" dirty="0"/>
              <a:t>Personal loan sales in NBFCs like Tata Capital are still </a:t>
            </a:r>
            <a:r>
              <a:rPr lang="en-US" sz="1800" b="1" dirty="0"/>
              <a:t>human-driven and slow</a:t>
            </a:r>
            <a:r>
              <a:rPr lang="en-US" sz="1800" dirty="0"/>
              <a:t>.</a:t>
            </a:r>
            <a:br>
              <a:rPr lang="en-US" sz="1800" dirty="0"/>
            </a:br>
            <a:r>
              <a:rPr lang="en-US" sz="1800" dirty="0"/>
              <a:t>Manual verification, conversations, document handling &amp; underwriting create:</a:t>
            </a:r>
            <a:br>
              <a:rPr lang="en-US" sz="1800" dirty="0"/>
            </a:br>
            <a:r>
              <a:rPr lang="en-US" sz="1800" dirty="0"/>
              <a:t>Delays in customer response</a:t>
            </a:r>
            <a:br>
              <a:rPr lang="en-US" sz="1800" dirty="0"/>
            </a:br>
            <a:r>
              <a:rPr lang="en-US" sz="1800" dirty="0"/>
              <a:t>High drop-off rates</a:t>
            </a:r>
            <a:br>
              <a:rPr lang="en-US" sz="1800" dirty="0"/>
            </a:br>
            <a:r>
              <a:rPr lang="en-US" sz="1800" dirty="0"/>
              <a:t>Inconsistent approval decisions</a:t>
            </a:r>
            <a:br>
              <a:rPr lang="en-US" sz="1800" dirty="0"/>
            </a:br>
            <a:r>
              <a:rPr lang="en-US" sz="1800" dirty="0"/>
              <a:t>Missed sales opportunities</a:t>
            </a:r>
            <a:br>
              <a:rPr lang="en-US" sz="1800" dirty="0"/>
            </a:br>
            <a:r>
              <a:rPr lang="en-US" sz="1800" b="1" dirty="0"/>
              <a:t>Problem in Focus</a:t>
            </a:r>
            <a:br>
              <a:rPr lang="en-US" sz="1800" b="1" dirty="0"/>
            </a:br>
            <a:r>
              <a:rPr lang="en-US" sz="1800" dirty="0"/>
              <a:t>Existing process is </a:t>
            </a:r>
            <a:r>
              <a:rPr lang="en-US" sz="1800" b="1" dirty="0"/>
              <a:t>fragmented</a:t>
            </a:r>
            <a:r>
              <a:rPr lang="en-US" sz="1800" dirty="0"/>
              <a:t>:</a:t>
            </a:r>
            <a:br>
              <a:rPr lang="en-US" sz="1800" dirty="0"/>
            </a:br>
            <a:r>
              <a:rPr lang="en-US" sz="1800" dirty="0"/>
              <a:t>Customer → Sales Agent → KYC Verification → Underwriting → Sanction</a:t>
            </a:r>
            <a:br>
              <a:rPr lang="en-US" sz="1800" dirty="0"/>
            </a:br>
            <a:r>
              <a:rPr lang="en-US" sz="1800" dirty="0"/>
              <a:t>No unified workflow, leading to:</a:t>
            </a:r>
            <a:br>
              <a:rPr lang="en-US" sz="1800" dirty="0"/>
            </a:br>
            <a:r>
              <a:rPr lang="en-US" sz="1800" dirty="0"/>
              <a:t>Long wait times</a:t>
            </a:r>
            <a:br>
              <a:rPr lang="en-US" sz="1800" dirty="0"/>
            </a:br>
            <a:r>
              <a:rPr lang="en-US" sz="1800" dirty="0"/>
              <a:t>Low automation</a:t>
            </a:r>
            <a:br>
              <a:rPr lang="en-US" sz="1800" dirty="0"/>
            </a:br>
            <a:r>
              <a:rPr lang="en-US" sz="1800" dirty="0"/>
              <a:t>Human dependency</a:t>
            </a:r>
            <a:br>
              <a:rPr lang="en-US" sz="1800" dirty="0"/>
            </a:br>
            <a:r>
              <a:rPr lang="en-US" sz="1800" dirty="0"/>
              <a:t>Lost revenue due to slow approvals</a:t>
            </a:r>
            <a:br>
              <a:rPr lang="en-US" sz="1800" dirty="0"/>
            </a:br>
            <a:r>
              <a:rPr lang="en-US" sz="1800" b="1" dirty="0"/>
              <a:t>There is a strong need for a fast, intelligent, end-to-end AI-driven sales system.</a:t>
            </a:r>
            <a:br>
              <a:rPr lang="en-US" sz="1800" dirty="0"/>
            </a:br>
            <a:endParaRPr lang="en-US" sz="1800" dirty="0"/>
          </a:p>
        </p:txBody>
      </p:sp>
      <p:pic>
        <p:nvPicPr>
          <p:cNvPr id="9" name="Picture Placeholder 8" descr="A computer screen shot of a robot&#10;&#10;AI-generated content may be incorrect.">
            <a:extLst>
              <a:ext uri="{FF2B5EF4-FFF2-40B4-BE49-F238E27FC236}">
                <a16:creationId xmlns:a16="http://schemas.microsoft.com/office/drawing/2014/main" id="{B909614A-97A7-8BF1-9EAF-71716B503C9B}"/>
              </a:ext>
            </a:extLst>
          </p:cNvPr>
          <p:cNvPicPr>
            <a:picLocks noGrp="1" noChangeAspect="1"/>
          </p:cNvPicPr>
          <p:nvPr>
            <p:ph type="pic" idx="1"/>
          </p:nvPr>
        </p:nvPicPr>
        <p:blipFill>
          <a:blip r:embed="rId3">
            <a:extLst>
              <a:ext uri="{837473B0-CC2E-450A-ABE3-18F120FF3D39}">
                <a1611:picAttrSrcUrl xmlns:a1611="http://schemas.microsoft.com/office/drawing/2016/11/main" r:id="rId4"/>
              </a:ext>
            </a:extLst>
          </a:blip>
          <a:srcRect l="31276" r="31276"/>
          <a:stretch>
            <a:fillRect/>
          </a:stretch>
        </p:blipFill>
        <p:spPr/>
      </p:pic>
      <p:sp>
        <p:nvSpPr>
          <p:cNvPr id="10" name="TextBox 9">
            <a:extLst>
              <a:ext uri="{FF2B5EF4-FFF2-40B4-BE49-F238E27FC236}">
                <a16:creationId xmlns:a16="http://schemas.microsoft.com/office/drawing/2014/main" id="{36567C2F-3C08-69F4-E028-0FFFC75E521E}"/>
              </a:ext>
            </a:extLst>
          </p:cNvPr>
          <p:cNvSpPr txBox="1"/>
          <p:nvPr/>
        </p:nvSpPr>
        <p:spPr>
          <a:xfrm>
            <a:off x="7401941" y="6587067"/>
            <a:ext cx="4790059" cy="230832"/>
          </a:xfrm>
          <a:prstGeom prst="rect">
            <a:avLst/>
          </a:prstGeom>
          <a:noFill/>
        </p:spPr>
        <p:txBody>
          <a:bodyPr wrap="square" rtlCol="0">
            <a:spAutoFit/>
          </a:bodyPr>
          <a:lstStyle/>
          <a:p>
            <a:r>
              <a:rPr lang="en-IN" sz="900">
                <a:hlinkClick r:id="rId4" tooltip="https://loquesigue.tv/character-ai-y-las-poblaciones-vulnerables/"/>
              </a:rPr>
              <a:t>This Photo</a:t>
            </a:r>
            <a:r>
              <a:rPr lang="en-IN" sz="900"/>
              <a:t> by Unknown Author is licensed under </a:t>
            </a:r>
            <a:r>
              <a:rPr lang="en-IN" sz="900">
                <a:hlinkClick r:id="rId5" tooltip="https://creativecommons.org/licenses/by-nc-sa/3.0/"/>
              </a:rPr>
              <a:t>CC BY-SA-NC</a:t>
            </a:r>
            <a:endParaRPr lang="en-IN" sz="900"/>
          </a:p>
        </p:txBody>
      </p:sp>
    </p:spTree>
    <p:extLst>
      <p:ext uri="{BB962C8B-B14F-4D97-AF65-F5344CB8AC3E}">
        <p14:creationId xmlns:p14="http://schemas.microsoft.com/office/powerpoint/2010/main" val="22223244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IN" dirty="0"/>
              <a:t>Executive Summary</a:t>
            </a:r>
            <a:endParaRPr lang="en-US" dirty="0"/>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normAutofit fontScale="70000" lnSpcReduction="20000"/>
          </a:bodyPr>
          <a:lstStyle/>
          <a:p>
            <a:r>
              <a:rPr lang="en-US" dirty="0"/>
              <a:t>This solution proposes an </a:t>
            </a:r>
            <a:r>
              <a:rPr lang="en-US" b="1" dirty="0"/>
              <a:t>AI-Driven Loan Sales Chatbot</a:t>
            </a:r>
            <a:r>
              <a:rPr lang="en-US" dirty="0"/>
              <a:t> designed to automate Tata Capital’s personal loan sales lifecycle from customer conversation to sanction letter generation. Today, loan sales involve manual customer conversations, separate KYC workflows, offline credit checks, and human-generated sanction letters. These fragmented steps cause slow response times, reduced customer satisfaction, and low conversion rates.</a:t>
            </a:r>
          </a:p>
          <a:p>
            <a:r>
              <a:rPr lang="en-US" dirty="0"/>
              <a:t>Our proposed solution eliminates manual bottlenecks by using an </a:t>
            </a:r>
            <a:r>
              <a:rPr lang="en-US" b="1" dirty="0"/>
              <a:t>Agentic AI architecture</a:t>
            </a:r>
            <a:r>
              <a:rPr lang="en-US" dirty="0"/>
              <a:t> with a Master Agent and multiple Worker Agents. The chatbot interacts in a natural, conversational manner with customers, collects loan requirements, and requests documents where necessary. A Verification Agent validates KYC and documents using mock CRM and API data. An Underwriting Agent applies credit rules, checks credit score, evaluates eligibility, and provides a decision. Upon approval, a Sanction Agent automatically generates a personalized sanction letter (PDF) with loan details and provides a download link to the user.</a:t>
            </a:r>
          </a:p>
          <a:p>
            <a:r>
              <a:rPr lang="en-US" dirty="0"/>
              <a:t>This end-to-end automation can reduce time-to-sanction from ~20 minutes to under 2 minutes. The solution fits the NBFC industry (B2C) and targets users who want quick, digital loan approvals. By removing manual intervention, the system increases customer completion rates, ensures compliance through audit logs, and significantly improves operational efficiency.</a:t>
            </a:r>
          </a:p>
          <a:p>
            <a:endParaRPr lang="en-US" dirty="0"/>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4</a:t>
            </a:fld>
            <a:endParaRPr lang="en-US" dirty="0"/>
          </a:p>
        </p:txBody>
      </p:sp>
    </p:spTree>
    <p:extLst>
      <p:ext uri="{BB962C8B-B14F-4D97-AF65-F5344CB8AC3E}">
        <p14:creationId xmlns:p14="http://schemas.microsoft.com/office/powerpoint/2010/main" val="19669132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IN" dirty="0"/>
              <a:t>Problem Statement &amp; Proposed Solution</a:t>
            </a:r>
            <a:endParaRPr lang="en-US" dirty="0"/>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14400" y="2039112"/>
            <a:ext cx="4576953" cy="3877055"/>
          </a:xfrm>
        </p:spPr>
        <p:txBody>
          <a:bodyPr/>
          <a:lstStyle/>
          <a:p>
            <a:r>
              <a:rPr lang="en-IN" dirty="0"/>
              <a:t>Problem Statement</a:t>
            </a:r>
            <a:endParaRPr lang="en-US" dirty="0"/>
          </a:p>
          <a:p>
            <a:r>
              <a:rPr lang="en-US" dirty="0"/>
              <a:t>Manual and fragmented loan sales processes result in:</a:t>
            </a:r>
          </a:p>
          <a:p>
            <a:pPr marL="342900" indent="-342900">
              <a:buFont typeface="Courier New" panose="02070309020205020404" pitchFamily="49" charset="0"/>
              <a:buChar char="o"/>
            </a:pPr>
            <a:r>
              <a:rPr lang="en-US" dirty="0"/>
              <a:t>Long customer wait times</a:t>
            </a:r>
          </a:p>
          <a:p>
            <a:pPr marL="342900" indent="-342900">
              <a:buFont typeface="Courier New" panose="02070309020205020404" pitchFamily="49" charset="0"/>
              <a:buChar char="o"/>
            </a:pPr>
            <a:r>
              <a:rPr lang="en-US" dirty="0"/>
              <a:t>Low digital completion rates</a:t>
            </a:r>
          </a:p>
          <a:p>
            <a:pPr marL="342900" indent="-342900">
              <a:buFont typeface="Courier New" panose="02070309020205020404" pitchFamily="49" charset="0"/>
              <a:buChar char="o"/>
            </a:pPr>
            <a:r>
              <a:rPr lang="en-US" dirty="0"/>
              <a:t>High operational load on human agents</a:t>
            </a:r>
          </a:p>
          <a:p>
            <a:pPr marL="342900" indent="-342900">
              <a:buFont typeface="Courier New" panose="02070309020205020404" pitchFamily="49" charset="0"/>
              <a:buChar char="o"/>
            </a:pPr>
            <a:r>
              <a:rPr lang="en-US" dirty="0"/>
              <a:t>Delays in document verification and credit decisions</a:t>
            </a:r>
          </a:p>
          <a:p>
            <a:pPr lvl="1"/>
            <a:endParaRPr lang="en-US" dirty="0"/>
          </a:p>
        </p:txBody>
      </p:sp>
      <p:sp>
        <p:nvSpPr>
          <p:cNvPr id="17" name="Content Placeholder 16">
            <a:extLst>
              <a:ext uri="{FF2B5EF4-FFF2-40B4-BE49-F238E27FC236}">
                <a16:creationId xmlns:a16="http://schemas.microsoft.com/office/drawing/2014/main" id="{2F3CEF66-C6D7-C765-24E7-1DCFB38FE51A}"/>
              </a:ext>
            </a:extLst>
          </p:cNvPr>
          <p:cNvSpPr>
            <a:spLocks noGrp="1"/>
          </p:cNvSpPr>
          <p:nvPr>
            <p:ph sz="quarter" idx="12"/>
          </p:nvPr>
        </p:nvSpPr>
        <p:spPr>
          <a:xfrm>
            <a:off x="6357747" y="2039112"/>
            <a:ext cx="4576953" cy="3877055"/>
          </a:xfrm>
        </p:spPr>
        <p:txBody>
          <a:bodyPr>
            <a:normAutofit/>
          </a:bodyPr>
          <a:lstStyle/>
          <a:p>
            <a:r>
              <a:rPr lang="en-IN" sz="1800" b="1" dirty="0"/>
              <a:t>Proposed Solution</a:t>
            </a:r>
          </a:p>
          <a:p>
            <a:r>
              <a:rPr lang="en-IN" sz="1800" dirty="0"/>
              <a:t>A </a:t>
            </a:r>
            <a:r>
              <a:rPr lang="en-IN" sz="1800" b="1" dirty="0"/>
              <a:t>web-based Agentic AI Chatbot</a:t>
            </a:r>
            <a:r>
              <a:rPr lang="en-IN" sz="1800" dirty="0"/>
              <a:t> that automates:</a:t>
            </a:r>
          </a:p>
          <a:p>
            <a:pPr marL="285750" indent="-285750">
              <a:buFont typeface="Courier New" panose="02070309020205020404" pitchFamily="49" charset="0"/>
              <a:buChar char="o"/>
            </a:pPr>
            <a:r>
              <a:rPr lang="en-IN" sz="1800" dirty="0"/>
              <a:t>Customer conversation</a:t>
            </a:r>
          </a:p>
          <a:p>
            <a:pPr marL="285750" indent="-285750">
              <a:buFont typeface="Courier New" panose="02070309020205020404" pitchFamily="49" charset="0"/>
              <a:buChar char="o"/>
            </a:pPr>
            <a:r>
              <a:rPr lang="en-IN" sz="1800" dirty="0"/>
              <a:t>Data collection</a:t>
            </a:r>
          </a:p>
          <a:p>
            <a:pPr marL="285750" indent="-285750">
              <a:buFont typeface="Courier New" panose="02070309020205020404" pitchFamily="49" charset="0"/>
              <a:buChar char="o"/>
            </a:pPr>
            <a:r>
              <a:rPr lang="en-IN" sz="1800" dirty="0"/>
              <a:t>Document verification</a:t>
            </a:r>
          </a:p>
          <a:p>
            <a:pPr marL="285750" indent="-285750">
              <a:buFont typeface="Courier New" panose="02070309020205020404" pitchFamily="49" charset="0"/>
              <a:buChar char="o"/>
            </a:pPr>
            <a:r>
              <a:rPr lang="en-IN" sz="1800" dirty="0"/>
              <a:t>Credit assessment</a:t>
            </a:r>
          </a:p>
          <a:p>
            <a:pPr marL="285750" indent="-285750">
              <a:buFont typeface="Courier New" panose="02070309020205020404" pitchFamily="49" charset="0"/>
              <a:buChar char="o"/>
            </a:pPr>
            <a:r>
              <a:rPr lang="en-IN" sz="1800" dirty="0"/>
              <a:t>Sanction letter generation</a:t>
            </a:r>
          </a:p>
          <a:p>
            <a:pPr marL="285750" indent="-285750">
              <a:buFont typeface="Courier New" panose="02070309020205020404" pitchFamily="49" charset="0"/>
              <a:buChar char="o"/>
            </a:pPr>
            <a:r>
              <a:rPr lang="en-IN" sz="1800" dirty="0"/>
              <a:t>This ensures </a:t>
            </a:r>
            <a:r>
              <a:rPr lang="en-IN" sz="1800" b="1" dirty="0"/>
              <a:t>fast, consistent, explainable decisions</a:t>
            </a:r>
            <a:r>
              <a:rPr lang="en-IN" sz="1800" dirty="0"/>
              <a:t>.</a:t>
            </a:r>
          </a:p>
          <a:p>
            <a:endParaRPr lang="en-US" dirty="0"/>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5</a:t>
            </a:fld>
            <a:endParaRPr lang="en-US" dirty="0"/>
          </a:p>
        </p:txBody>
      </p:sp>
    </p:spTree>
    <p:extLst>
      <p:ext uri="{BB962C8B-B14F-4D97-AF65-F5344CB8AC3E}">
        <p14:creationId xmlns:p14="http://schemas.microsoft.com/office/powerpoint/2010/main" val="423010696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p:txBody>
          <a:bodyPr/>
          <a:lstStyle/>
          <a:p>
            <a:r>
              <a:rPr lang="en-IN" dirty="0"/>
              <a:t>Approach &amp; Methodology</a:t>
            </a:r>
            <a:endParaRPr lang="en-US" dirty="0"/>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914399" y="2039112"/>
            <a:ext cx="3364992" cy="3904488"/>
          </a:xfrm>
        </p:spPr>
        <p:txBody>
          <a:bodyPr>
            <a:normAutofit/>
          </a:bodyPr>
          <a:lstStyle/>
          <a:p>
            <a:r>
              <a:rPr lang="en-US" sz="1400" b="1" dirty="0"/>
              <a:t>Value Proposition</a:t>
            </a:r>
          </a:p>
          <a:p>
            <a:r>
              <a:rPr lang="en-US" sz="1400" dirty="0"/>
              <a:t>Faster approvals</a:t>
            </a:r>
          </a:p>
          <a:p>
            <a:r>
              <a:rPr lang="en-US" sz="1400" dirty="0"/>
              <a:t>Higher conversions</a:t>
            </a:r>
          </a:p>
          <a:p>
            <a:r>
              <a:rPr lang="en-US" sz="1400" dirty="0"/>
              <a:t>Error-free underwriting</a:t>
            </a:r>
          </a:p>
          <a:p>
            <a:r>
              <a:rPr lang="en-US" sz="1400" dirty="0"/>
              <a:t>Fully digital experience</a:t>
            </a:r>
          </a:p>
          <a:p>
            <a:r>
              <a:rPr lang="en-US" sz="1400" dirty="0"/>
              <a:t>More loans sanctioned with less manual effort</a:t>
            </a:r>
          </a:p>
          <a:p>
            <a:pPr marL="0" indent="0">
              <a:buNone/>
            </a:pPr>
            <a:r>
              <a:rPr lang="en-US" sz="1400" b="1" dirty="0"/>
              <a:t>Impact Metrics</a:t>
            </a:r>
          </a:p>
          <a:p>
            <a:r>
              <a:rPr lang="en-US" sz="1400" dirty="0"/>
              <a:t>Time to sanction</a:t>
            </a:r>
          </a:p>
          <a:p>
            <a:r>
              <a:rPr lang="en-US" sz="1400" dirty="0"/>
              <a:t>Completion rate</a:t>
            </a:r>
          </a:p>
          <a:p>
            <a:r>
              <a:rPr lang="en-US" sz="1400" dirty="0"/>
              <a:t>Automation %</a:t>
            </a:r>
          </a:p>
          <a:p>
            <a:r>
              <a:rPr lang="en-US" sz="1400" dirty="0"/>
              <a:t>Customer satisfaction</a:t>
            </a:r>
          </a:p>
          <a:p>
            <a:endParaRPr lang="en-US" dirty="0"/>
          </a:p>
        </p:txBody>
      </p:sp>
      <p:sp>
        <p:nvSpPr>
          <p:cNvPr id="25" name="Content Placeholder 24">
            <a:extLst>
              <a:ext uri="{FF2B5EF4-FFF2-40B4-BE49-F238E27FC236}">
                <a16:creationId xmlns:a16="http://schemas.microsoft.com/office/drawing/2014/main" id="{7798761A-B671-4825-623F-F4726F2BDF28}"/>
              </a:ext>
            </a:extLst>
          </p:cNvPr>
          <p:cNvSpPr>
            <a:spLocks noGrp="1"/>
          </p:cNvSpPr>
          <p:nvPr>
            <p:ph sz="quarter" idx="12"/>
          </p:nvPr>
        </p:nvSpPr>
        <p:spPr>
          <a:xfrm>
            <a:off x="4743451" y="2039112"/>
            <a:ext cx="6537960" cy="3904488"/>
          </a:xfrm>
        </p:spPr>
        <p:txBody>
          <a:bodyPr/>
          <a:lstStyle/>
          <a:p>
            <a:r>
              <a:rPr lang="en-IN" b="1" dirty="0"/>
              <a:t>Methodology</a:t>
            </a:r>
          </a:p>
          <a:p>
            <a:pPr marL="342900" indent="-342900">
              <a:buFont typeface="Courier New" panose="02070309020205020404" pitchFamily="49" charset="0"/>
              <a:buChar char="o"/>
            </a:pPr>
            <a:r>
              <a:rPr lang="en-IN" dirty="0"/>
              <a:t>Conversational AI collects user data</a:t>
            </a:r>
          </a:p>
          <a:p>
            <a:pPr marL="342900" indent="-342900">
              <a:buFont typeface="Courier New" panose="02070309020205020404" pitchFamily="49" charset="0"/>
              <a:buChar char="o"/>
            </a:pPr>
            <a:r>
              <a:rPr lang="en-IN" dirty="0"/>
              <a:t>Agentic AI system routes tasks to specialized agents</a:t>
            </a:r>
          </a:p>
          <a:p>
            <a:pPr marL="342900" indent="-342900">
              <a:buFont typeface="Courier New" panose="02070309020205020404" pitchFamily="49" charset="0"/>
              <a:buChar char="o"/>
            </a:pPr>
            <a:r>
              <a:rPr lang="en-IN" dirty="0"/>
              <a:t>Mock APIs/KYC database enables validation</a:t>
            </a:r>
          </a:p>
          <a:p>
            <a:pPr marL="342900" indent="-342900">
              <a:buFont typeface="Courier New" panose="02070309020205020404" pitchFamily="49" charset="0"/>
              <a:buChar char="o"/>
            </a:pPr>
            <a:r>
              <a:rPr lang="en-IN" dirty="0"/>
              <a:t>Rule-based and score-based underwriting</a:t>
            </a:r>
          </a:p>
          <a:p>
            <a:pPr marL="342900" indent="-342900">
              <a:buFont typeface="Courier New" panose="02070309020205020404" pitchFamily="49" charset="0"/>
              <a:buChar char="o"/>
            </a:pPr>
            <a:r>
              <a:rPr lang="en-IN" dirty="0"/>
              <a:t>PDF generator produces sanction letters</a:t>
            </a:r>
          </a:p>
          <a:p>
            <a:endParaRPr lang="en-US" dirty="0"/>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6</a:t>
            </a:fld>
            <a:endParaRPr lang="en-US" dirty="0"/>
          </a:p>
        </p:txBody>
      </p:sp>
    </p:spTree>
    <p:extLst>
      <p:ext uri="{BB962C8B-B14F-4D97-AF65-F5344CB8AC3E}">
        <p14:creationId xmlns:p14="http://schemas.microsoft.com/office/powerpoint/2010/main" val="37483489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IN" dirty="0"/>
              <a:t>Technology Stack</a:t>
            </a:r>
            <a:endParaRPr lang="en-US" dirty="0"/>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5650992" cy="3904488"/>
          </a:xfrm>
        </p:spPr>
        <p:txBody>
          <a:bodyPr/>
          <a:lstStyle/>
          <a:p>
            <a:r>
              <a:rPr lang="en-IN" b="1" dirty="0"/>
              <a:t>Frontend:</a:t>
            </a:r>
            <a:r>
              <a:rPr lang="en-IN" dirty="0"/>
              <a:t> </a:t>
            </a:r>
            <a:r>
              <a:rPr lang="en-IN" dirty="0" err="1"/>
              <a:t>Streamlit</a:t>
            </a:r>
            <a:r>
              <a:rPr lang="en-IN" dirty="0"/>
              <a:t> / </a:t>
            </a:r>
            <a:r>
              <a:rPr lang="en-IN" dirty="0" err="1"/>
              <a:t>Gradio</a:t>
            </a:r>
            <a:r>
              <a:rPr lang="en-IN" dirty="0"/>
              <a:t> chatbot UI</a:t>
            </a:r>
          </a:p>
          <a:p>
            <a:r>
              <a:rPr lang="en-IN" b="1" dirty="0"/>
              <a:t>Backend:</a:t>
            </a:r>
            <a:r>
              <a:rPr lang="en-IN" dirty="0"/>
              <a:t> Python, </a:t>
            </a:r>
            <a:r>
              <a:rPr lang="en-IN" dirty="0" err="1"/>
              <a:t>LangChain</a:t>
            </a:r>
            <a:r>
              <a:rPr lang="en-IN" dirty="0"/>
              <a:t> Agent architecture</a:t>
            </a:r>
          </a:p>
          <a:p>
            <a:r>
              <a:rPr lang="en-IN" b="1" dirty="0"/>
              <a:t>Data:</a:t>
            </a:r>
            <a:r>
              <a:rPr lang="en-IN" dirty="0"/>
              <a:t> Mock CRM/credit score CSV/JSON</a:t>
            </a:r>
          </a:p>
          <a:p>
            <a:r>
              <a:rPr lang="en-IN" b="1" dirty="0"/>
              <a:t>Verification:</a:t>
            </a:r>
            <a:r>
              <a:rPr lang="en-IN" dirty="0"/>
              <a:t> Document upload + validation logic</a:t>
            </a:r>
          </a:p>
          <a:p>
            <a:r>
              <a:rPr lang="en-IN" b="1" dirty="0"/>
              <a:t>PDF Generation:</a:t>
            </a:r>
            <a:r>
              <a:rPr lang="en-IN" dirty="0"/>
              <a:t> Python report generation tools</a:t>
            </a:r>
          </a:p>
          <a:p>
            <a:r>
              <a:rPr lang="en-IN" b="1" dirty="0"/>
              <a:t>APIs:</a:t>
            </a:r>
            <a:r>
              <a:rPr lang="en-IN" dirty="0"/>
              <a:t> Mock KYC API, mock bureau API</a:t>
            </a:r>
          </a:p>
          <a:p>
            <a:r>
              <a:rPr lang="en-IN" b="1" dirty="0"/>
              <a:t>Deployment Ready:</a:t>
            </a:r>
            <a:r>
              <a:rPr lang="en-IN" dirty="0"/>
              <a:t> Containers / microservices (future)</a:t>
            </a:r>
          </a:p>
          <a:p>
            <a:endParaRPr lang="en-US" dirty="0"/>
          </a:p>
        </p:txBody>
      </p:sp>
      <p:pic>
        <p:nvPicPr>
          <p:cNvPr id="7" name="Picture Placeholder 6" descr="A network of laptops and cell phones&#10;&#10;AI-generated content may be incorrect.">
            <a:extLst>
              <a:ext uri="{FF2B5EF4-FFF2-40B4-BE49-F238E27FC236}">
                <a16:creationId xmlns:a16="http://schemas.microsoft.com/office/drawing/2014/main" id="{AE2ED0A8-9529-EA8F-C9BC-CF1E9240C441}"/>
              </a:ext>
            </a:extLst>
          </p:cNvPr>
          <p:cNvPicPr>
            <a:picLocks noGrp="1" noChangeAspect="1"/>
          </p:cNvPicPr>
          <p:nvPr>
            <p:ph type="pic" sz="quarter" idx="10"/>
          </p:nvPr>
        </p:nvPicPr>
        <p:blipFill>
          <a:blip r:embed="rId3">
            <a:extLst>
              <a:ext uri="{837473B0-CC2E-450A-ABE3-18F120FF3D39}">
                <a1611:picAttrSrcUrl xmlns:a1611="http://schemas.microsoft.com/office/drawing/2016/11/main" r:id="rId4"/>
              </a:ext>
            </a:extLst>
          </a:blip>
          <a:srcRect l="23780" r="23780"/>
          <a:stretch>
            <a:fillRect/>
          </a:stretch>
        </p:blipFill>
        <p:spPr/>
      </p:pic>
    </p:spTree>
    <p:extLst>
      <p:ext uri="{BB962C8B-B14F-4D97-AF65-F5344CB8AC3E}">
        <p14:creationId xmlns:p14="http://schemas.microsoft.com/office/powerpoint/2010/main" val="85990980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96E3FD31-D19A-BFEB-821F-C00103830DC9}"/>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CF3ADB94-FC21-07C5-1FC9-E729C5DEDFC6}"/>
              </a:ext>
            </a:extLst>
          </p:cNvPr>
          <p:cNvSpPr>
            <a:spLocks noGrp="1"/>
          </p:cNvSpPr>
          <p:nvPr>
            <p:ph sz="quarter" idx="12"/>
          </p:nvPr>
        </p:nvSpPr>
        <p:spPr>
          <a:xfrm>
            <a:off x="914400" y="2039324"/>
            <a:ext cx="2816352" cy="3840480"/>
          </a:xfrm>
        </p:spPr>
        <p:txBody>
          <a:bodyPr/>
          <a:lstStyle/>
          <a:p>
            <a:r>
              <a:rPr lang="en-IN" sz="3600" b="1" dirty="0"/>
              <a:t>Assumptions, Constraints &amp; Decisions</a:t>
            </a:r>
          </a:p>
          <a:p>
            <a:endParaRPr lang="en-US" dirty="0"/>
          </a:p>
        </p:txBody>
      </p:sp>
      <p:sp>
        <p:nvSpPr>
          <p:cNvPr id="5" name="Slide Number Placeholder 4">
            <a:extLst>
              <a:ext uri="{FF2B5EF4-FFF2-40B4-BE49-F238E27FC236}">
                <a16:creationId xmlns:a16="http://schemas.microsoft.com/office/drawing/2014/main" id="{7F576313-F1C8-57CB-82F6-54BC07D3B9F4}"/>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8</a:t>
            </a:fld>
            <a:endParaRPr lang="en-US" dirty="0"/>
          </a:p>
        </p:txBody>
      </p:sp>
      <p:graphicFrame>
        <p:nvGraphicFramePr>
          <p:cNvPr id="16" name="Content Placeholder 15">
            <a:extLst>
              <a:ext uri="{FF2B5EF4-FFF2-40B4-BE49-F238E27FC236}">
                <a16:creationId xmlns:a16="http://schemas.microsoft.com/office/drawing/2014/main" id="{C58C35B7-0643-2248-DA7D-D3D5FCD79FDA}"/>
              </a:ext>
            </a:extLst>
          </p:cNvPr>
          <p:cNvGraphicFramePr>
            <a:graphicFrameLocks noGrp="1"/>
          </p:cNvGraphicFramePr>
          <p:nvPr>
            <p:ph sz="quarter" idx="13"/>
            <p:extLst>
              <p:ext uri="{D42A27DB-BD31-4B8C-83A1-F6EECF244321}">
                <p14:modId xmlns:p14="http://schemas.microsoft.com/office/powerpoint/2010/main" val="1043798694"/>
              </p:ext>
            </p:extLst>
          </p:nvPr>
        </p:nvGraphicFramePr>
        <p:xfrm>
          <a:off x="4097338" y="2038350"/>
          <a:ext cx="6950075" cy="38417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780952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fltVal val="0"/>
                                          </p:val>
                                        </p:tav>
                                        <p:tav tm="100000">
                                          <p:val>
                                            <p:strVal val="#ppt_w"/>
                                          </p:val>
                                        </p:tav>
                                      </p:tavLst>
                                    </p:anim>
                                    <p:anim calcmode="lin" valueType="num">
                                      <p:cBhvr>
                                        <p:cTn id="8" dur="1000" fill="hold"/>
                                        <p:tgtEl>
                                          <p:spTgt spid="16"/>
                                        </p:tgtEl>
                                        <p:attrNameLst>
                                          <p:attrName>ppt_h</p:attrName>
                                        </p:attrNameLst>
                                      </p:cBhvr>
                                      <p:tavLst>
                                        <p:tav tm="0">
                                          <p:val>
                                            <p:fltVal val="0"/>
                                          </p:val>
                                        </p:tav>
                                        <p:tav tm="100000">
                                          <p:val>
                                            <p:strVal val="#ppt_h"/>
                                          </p:val>
                                        </p:tav>
                                      </p:tavLst>
                                    </p:anim>
                                    <p:anim calcmode="lin" valueType="num">
                                      <p:cBhvr>
                                        <p:cTn id="9" dur="1000" fill="hold"/>
                                        <p:tgtEl>
                                          <p:spTgt spid="16"/>
                                        </p:tgtEl>
                                        <p:attrNameLst>
                                          <p:attrName>style.rotation</p:attrName>
                                        </p:attrNameLst>
                                      </p:cBhvr>
                                      <p:tavLst>
                                        <p:tav tm="0">
                                          <p:val>
                                            <p:fltVal val="90"/>
                                          </p:val>
                                        </p:tav>
                                        <p:tav tm="100000">
                                          <p:val>
                                            <p:fltVal val="0"/>
                                          </p:val>
                                        </p:tav>
                                      </p:tavLst>
                                    </p:anim>
                                    <p:animEffect transition="in" filter="fade">
                                      <p:cBhvr>
                                        <p:cTn id="10"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6"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B33A77B-664F-FFD3-D61A-0D344C269A12}"/>
              </a:ext>
            </a:extLst>
          </p:cNvPr>
          <p:cNvSpPr>
            <a:spLocks noGrp="1"/>
          </p:cNvSpPr>
          <p:nvPr>
            <p:ph type="title"/>
          </p:nvPr>
        </p:nvSpPr>
        <p:spPr/>
        <p:txBody>
          <a:bodyPr/>
          <a:lstStyle/>
          <a:p>
            <a:r>
              <a:rPr lang="en-IN" dirty="0"/>
              <a:t>Implementation Feasibility &amp; Scalability</a:t>
            </a:r>
            <a:endParaRPr lang="en-US" dirty="0"/>
          </a:p>
        </p:txBody>
      </p:sp>
      <p:sp>
        <p:nvSpPr>
          <p:cNvPr id="3" name="Content Placeholder 2">
            <a:extLst>
              <a:ext uri="{FF2B5EF4-FFF2-40B4-BE49-F238E27FC236}">
                <a16:creationId xmlns:a16="http://schemas.microsoft.com/office/drawing/2014/main" id="{DA4B0F3C-5228-C9FB-1212-1D4894C80B46}"/>
              </a:ext>
            </a:extLst>
          </p:cNvPr>
          <p:cNvSpPr>
            <a:spLocks noGrp="1"/>
          </p:cNvSpPr>
          <p:nvPr>
            <p:ph sz="quarter" idx="13"/>
          </p:nvPr>
        </p:nvSpPr>
        <p:spPr>
          <a:xfrm>
            <a:off x="914400" y="2113935"/>
            <a:ext cx="5309420" cy="3765656"/>
          </a:xfrm>
        </p:spPr>
        <p:txBody>
          <a:bodyPr>
            <a:normAutofit/>
          </a:bodyPr>
          <a:lstStyle/>
          <a:p>
            <a:pPr marL="0" indent="0">
              <a:buNone/>
            </a:pPr>
            <a:r>
              <a:rPr lang="en-US" b="1" dirty="0"/>
              <a:t>Implementation Feasibility</a:t>
            </a:r>
          </a:p>
          <a:p>
            <a:r>
              <a:rPr lang="en-US" dirty="0"/>
              <a:t>Modular agents allow easy enhancements</a:t>
            </a:r>
          </a:p>
          <a:p>
            <a:r>
              <a:rPr lang="en-US" dirty="0"/>
              <a:t>Rule engine ensures easy compliance updates</a:t>
            </a:r>
          </a:p>
          <a:p>
            <a:r>
              <a:rPr lang="en-US" dirty="0"/>
              <a:t>PDF generation and audit logs support NBFC regulatory needs</a:t>
            </a:r>
          </a:p>
          <a:p>
            <a:pPr marL="0" indent="0">
              <a:buNone/>
            </a:pPr>
            <a:endParaRPr lang="en-US" b="1" dirty="0"/>
          </a:p>
          <a:p>
            <a:endParaRPr lang="en-US" dirty="0"/>
          </a:p>
        </p:txBody>
      </p:sp>
      <p:sp>
        <p:nvSpPr>
          <p:cNvPr id="5" name="Content Placeholder 4">
            <a:extLst>
              <a:ext uri="{FF2B5EF4-FFF2-40B4-BE49-F238E27FC236}">
                <a16:creationId xmlns:a16="http://schemas.microsoft.com/office/drawing/2014/main" id="{7DA9EE9E-3073-7E11-3AA5-F77C3B48A97F}"/>
              </a:ext>
            </a:extLst>
          </p:cNvPr>
          <p:cNvSpPr>
            <a:spLocks noGrp="1"/>
          </p:cNvSpPr>
          <p:nvPr>
            <p:ph sz="quarter" idx="12"/>
          </p:nvPr>
        </p:nvSpPr>
        <p:spPr>
          <a:xfrm>
            <a:off x="6567948" y="2113935"/>
            <a:ext cx="4709349" cy="3765656"/>
          </a:xfrm>
        </p:spPr>
        <p:txBody>
          <a:bodyPr>
            <a:normAutofit/>
          </a:bodyPr>
          <a:lstStyle/>
          <a:p>
            <a:r>
              <a:rPr lang="en-US" sz="2400" b="1" dirty="0"/>
              <a:t>Scalability</a:t>
            </a:r>
          </a:p>
          <a:p>
            <a:pPr marL="342900" indent="-342900">
              <a:buFont typeface="Courier New" panose="02070309020205020404" pitchFamily="49" charset="0"/>
              <a:buChar char="o"/>
            </a:pPr>
            <a:r>
              <a:rPr lang="en-US" sz="2400" dirty="0"/>
              <a:t>Stateless microservices possible</a:t>
            </a:r>
          </a:p>
          <a:p>
            <a:pPr marL="342900" indent="-342900">
              <a:buFont typeface="Courier New" panose="02070309020205020404" pitchFamily="49" charset="0"/>
              <a:buChar char="o"/>
            </a:pPr>
            <a:r>
              <a:rPr lang="en-US" sz="2400" dirty="0"/>
              <a:t>Vertical &amp; horizontal scaling of agents</a:t>
            </a:r>
          </a:p>
          <a:p>
            <a:pPr marL="342900" indent="-342900">
              <a:buFont typeface="Courier New" panose="02070309020205020404" pitchFamily="49" charset="0"/>
              <a:buChar char="o"/>
            </a:pPr>
            <a:r>
              <a:rPr lang="en-US" sz="2400" dirty="0"/>
              <a:t>Can integrate with real APIs later</a:t>
            </a:r>
          </a:p>
          <a:p>
            <a:pPr marL="342900" indent="-342900">
              <a:buFont typeface="Courier New" panose="02070309020205020404" pitchFamily="49" charset="0"/>
              <a:buChar char="o"/>
            </a:pPr>
            <a:r>
              <a:rPr lang="en-US" sz="2400" dirty="0"/>
              <a:t>Multi-product support (car loan, business loan, etc.</a:t>
            </a:r>
          </a:p>
          <a:p>
            <a:endParaRPr lang="en-US" dirty="0"/>
          </a:p>
        </p:txBody>
      </p:sp>
      <p:sp>
        <p:nvSpPr>
          <p:cNvPr id="4" name="Slide Number Placeholder 3">
            <a:extLst>
              <a:ext uri="{FF2B5EF4-FFF2-40B4-BE49-F238E27FC236}">
                <a16:creationId xmlns:a16="http://schemas.microsoft.com/office/drawing/2014/main" id="{AE59500A-4B75-29F9-CE37-C3E13D6A566A}"/>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9</a:t>
            </a:fld>
            <a:endParaRPr lang="en-US" dirty="0"/>
          </a:p>
        </p:txBody>
      </p:sp>
    </p:spTree>
    <p:extLst>
      <p:ext uri="{BB962C8B-B14F-4D97-AF65-F5344CB8AC3E}">
        <p14:creationId xmlns:p14="http://schemas.microsoft.com/office/powerpoint/2010/main" val="41321475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E4F88F8-17E5-45E3-77B1-77FACD99FF63}"/>
              </a:ext>
            </a:extLst>
          </p:cNvPr>
          <p:cNvSpPr>
            <a:spLocks noGrp="1"/>
          </p:cNvSpPr>
          <p:nvPr>
            <p:ph type="title"/>
          </p:nvPr>
        </p:nvSpPr>
        <p:spPr>
          <a:xfrm>
            <a:off x="915924" y="838456"/>
            <a:ext cx="10360152" cy="914400"/>
          </a:xfrm>
        </p:spPr>
        <p:txBody>
          <a:bodyPr/>
          <a:lstStyle/>
          <a:p>
            <a:r>
              <a:rPr lang="en-US" dirty="0"/>
              <a:t>Solution Components (For Next Round Demo)</a:t>
            </a:r>
          </a:p>
        </p:txBody>
      </p:sp>
      <p:sp>
        <p:nvSpPr>
          <p:cNvPr id="4" name="Slide Number Placeholder 3">
            <a:extLst>
              <a:ext uri="{FF2B5EF4-FFF2-40B4-BE49-F238E27FC236}">
                <a16:creationId xmlns:a16="http://schemas.microsoft.com/office/drawing/2014/main" id="{1D2469ED-926E-7CEE-5AF2-BF9AC726D015}"/>
              </a:ext>
            </a:extLst>
          </p:cNvPr>
          <p:cNvSpPr>
            <a:spLocks noGrp="1"/>
          </p:cNvSpPr>
          <p:nvPr>
            <p:ph type="sldNum" sz="quarter" idx="4"/>
          </p:nvPr>
        </p:nvSpPr>
        <p:spPr>
          <a:xfrm>
            <a:off x="11353800" y="5879804"/>
            <a:ext cx="661416" cy="895899"/>
          </a:xfrm>
        </p:spPr>
        <p:txBody>
          <a:bodyPr/>
          <a:lstStyle/>
          <a:p>
            <a:fld id="{58FB4751-880F-D840-AAA9-3A15815CC996}" type="slidenum">
              <a:rPr lang="en-US" smtClean="0"/>
              <a:pPr/>
              <a:t>10</a:t>
            </a:fld>
            <a:endParaRPr lang="en-US" dirty="0"/>
          </a:p>
        </p:txBody>
      </p:sp>
      <p:graphicFrame>
        <p:nvGraphicFramePr>
          <p:cNvPr id="5" name="Diagram 4">
            <a:extLst>
              <a:ext uri="{FF2B5EF4-FFF2-40B4-BE49-F238E27FC236}">
                <a16:creationId xmlns:a16="http://schemas.microsoft.com/office/drawing/2014/main" id="{13C09C85-F5DD-23F8-F22F-C4916A41375C}"/>
              </a:ext>
            </a:extLst>
          </p:cNvPr>
          <p:cNvGraphicFramePr/>
          <p:nvPr>
            <p:extLst>
              <p:ext uri="{D42A27DB-BD31-4B8C-83A1-F6EECF244321}">
                <p14:modId xmlns:p14="http://schemas.microsoft.com/office/powerpoint/2010/main" val="3993822665"/>
              </p:ext>
            </p:extLst>
          </p:nvPr>
        </p:nvGraphicFramePr>
        <p:xfrm>
          <a:off x="2032000" y="2182761"/>
          <a:ext cx="8128000" cy="39555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499611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xit" presetSubtype="21" fill="hold" grpId="0" nodeType="clickEffect">
                                  <p:stCondLst>
                                    <p:cond delay="0"/>
                                  </p:stCondLst>
                                  <p:childTnLst>
                                    <p:animEffect transition="out" filter="barn(inVertical)">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E6ACD-15DD-62E1-0AC4-C6D0CEBB96A9}"/>
              </a:ext>
            </a:extLst>
          </p:cNvPr>
          <p:cNvSpPr>
            <a:spLocks noGrp="1"/>
          </p:cNvSpPr>
          <p:nvPr>
            <p:ph type="title"/>
          </p:nvPr>
        </p:nvSpPr>
        <p:spPr/>
        <p:txBody>
          <a:bodyPr/>
          <a:lstStyle/>
          <a:p>
            <a:r>
              <a:rPr lang="en-IN" dirty="0"/>
              <a:t>Working Prototype Screenshots</a:t>
            </a:r>
          </a:p>
        </p:txBody>
      </p:sp>
      <p:pic>
        <p:nvPicPr>
          <p:cNvPr id="7" name="Content Placeholder 6" descr="A screenshot of a phone&#10;&#10;AI-generated content may be incorrect.">
            <a:hlinkClick r:id="rId2"/>
            <a:extLst>
              <a:ext uri="{FF2B5EF4-FFF2-40B4-BE49-F238E27FC236}">
                <a16:creationId xmlns:a16="http://schemas.microsoft.com/office/drawing/2014/main" id="{5091427A-2D51-B363-82E0-5F5A0918A48A}"/>
              </a:ext>
            </a:extLst>
          </p:cNvPr>
          <p:cNvPicPr>
            <a:picLocks noGrp="1" noChangeAspect="1"/>
          </p:cNvPicPr>
          <p:nvPr>
            <p:ph sz="quarter" idx="11"/>
          </p:nvPr>
        </p:nvPicPr>
        <p:blipFill>
          <a:blip r:embed="rId3"/>
          <a:stretch>
            <a:fillRect/>
          </a:stretch>
        </p:blipFill>
        <p:spPr>
          <a:xfrm>
            <a:off x="2673903" y="2002303"/>
            <a:ext cx="1711284" cy="3877501"/>
          </a:xfrm>
        </p:spPr>
      </p:pic>
      <p:pic>
        <p:nvPicPr>
          <p:cNvPr id="9" name="Content Placeholder 8" descr="A screenshot of a chat&#10;&#10;AI-generated content may be incorrect.">
            <a:extLst>
              <a:ext uri="{FF2B5EF4-FFF2-40B4-BE49-F238E27FC236}">
                <a16:creationId xmlns:a16="http://schemas.microsoft.com/office/drawing/2014/main" id="{36B21441-7A7B-62C1-ED1F-1A8FF30EF374}"/>
              </a:ext>
            </a:extLst>
          </p:cNvPr>
          <p:cNvPicPr>
            <a:picLocks noGrp="1" noChangeAspect="1"/>
          </p:cNvPicPr>
          <p:nvPr>
            <p:ph sz="quarter" idx="12"/>
          </p:nvPr>
        </p:nvPicPr>
        <p:blipFill>
          <a:blip r:embed="rId4"/>
          <a:stretch>
            <a:fillRect/>
          </a:stretch>
        </p:blipFill>
        <p:spPr>
          <a:xfrm>
            <a:off x="6813755" y="2038350"/>
            <a:ext cx="1711283" cy="3878263"/>
          </a:xfrm>
        </p:spPr>
      </p:pic>
      <p:sp>
        <p:nvSpPr>
          <p:cNvPr id="5" name="Slide Number Placeholder 4">
            <a:extLst>
              <a:ext uri="{FF2B5EF4-FFF2-40B4-BE49-F238E27FC236}">
                <a16:creationId xmlns:a16="http://schemas.microsoft.com/office/drawing/2014/main" id="{785F30A1-9D86-093C-145B-3644B37B2DC2}"/>
              </a:ext>
            </a:extLst>
          </p:cNvPr>
          <p:cNvSpPr>
            <a:spLocks noGrp="1"/>
          </p:cNvSpPr>
          <p:nvPr>
            <p:ph type="sldNum" sz="quarter" idx="4"/>
          </p:nvPr>
        </p:nvSpPr>
        <p:spPr/>
        <p:txBody>
          <a:bodyPr/>
          <a:lstStyle/>
          <a:p>
            <a:fld id="{58FB4751-880F-D840-AAA9-3A15815CC996}" type="slidenum">
              <a:rPr lang="en-US" smtClean="0"/>
              <a:pPr/>
              <a:t>11</a:t>
            </a:fld>
            <a:endParaRPr lang="en-US" dirty="0"/>
          </a:p>
        </p:txBody>
      </p:sp>
    </p:spTree>
    <p:extLst>
      <p:ext uri="{BB962C8B-B14F-4D97-AF65-F5344CB8AC3E}">
        <p14:creationId xmlns:p14="http://schemas.microsoft.com/office/powerpoint/2010/main" val="314544459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normAutofit/>
          </a:bodyPr>
          <a:lstStyle/>
          <a:p>
            <a:r>
              <a:rPr lang="en-US" sz="1600" dirty="0"/>
              <a:t>Chaperone</a:t>
            </a:r>
          </a:p>
          <a:p>
            <a:r>
              <a:rPr lang="en-US" sz="1600" dirty="0"/>
              <a:t>An friendly, advice giving ai to solve and make it easier to understand about managing finance</a:t>
            </a:r>
          </a:p>
          <a:p>
            <a:r>
              <a:rPr lang="en-US" sz="1600" dirty="0"/>
              <a:t>Video : </a:t>
            </a:r>
            <a:r>
              <a:rPr lang="en-US" sz="1600" dirty="0">
                <a:hlinkClick r:id="rId3"/>
              </a:rPr>
              <a:t>https://www.linkedin.com/posts/flarance-rani-nandigama-ba62a2325_excited-to-share-a-demo-of-my-ai-driven-loan-activity-7407065863121539072-LVhB?utm_source=share&amp;utm_medium=member_desktop&amp;rcm=ACoAAFIXJi4B0vOsF8lEACP14zeMUfWtvF2M5gc</a:t>
            </a:r>
            <a:endParaRPr lang="en-US" sz="1600" dirty="0"/>
          </a:p>
        </p:txBody>
      </p:sp>
    </p:spTree>
    <p:extLst>
      <p:ext uri="{BB962C8B-B14F-4D97-AF65-F5344CB8AC3E}">
        <p14:creationId xmlns:p14="http://schemas.microsoft.com/office/powerpoint/2010/main" val="21888285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{B6FF3BE7-EBAF-44E0-9541-C94FBD0490C5}tf11964407_win32</Template>
  <TotalTime>311</TotalTime>
  <Words>822</Words>
  <Application>Microsoft Office PowerPoint</Application>
  <PresentationFormat>Widescreen</PresentationFormat>
  <Paragraphs>113</Paragraphs>
  <Slides>12</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Courier New</vt:lpstr>
      <vt:lpstr>Gill Sans Nova Light</vt:lpstr>
      <vt:lpstr>Sagona Book</vt:lpstr>
      <vt:lpstr>Wingdings</vt:lpstr>
      <vt:lpstr>Custom</vt:lpstr>
      <vt:lpstr>AI-Driven Loan Sales Chatbot for Tata Capital </vt:lpstr>
      <vt:lpstr>PowerPoint Presentation</vt:lpstr>
      <vt:lpstr>Industry Background Personal loan sales in NBFCs like Tata Capital are still human-driven and slow. Manual verification, conversations, document handling &amp; underwriting create: Delays in customer response High drop-off rates Inconsistent approval decisions Missed sales opportunities Problem in Focus Existing process is fragmented: Customer → Sales Agent → KYC Verification → Underwriting → Sanction No unified workflow, leading to: Long wait times Low automation Human dependency Lost revenue due to slow approvals There is a strong need for a fast, intelligent, end-to-end AI-driven sales system. </vt:lpstr>
      <vt:lpstr>Executive Summary</vt:lpstr>
      <vt:lpstr>Problem Statement &amp; Proposed Solution</vt:lpstr>
      <vt:lpstr>Approach &amp; Methodology</vt:lpstr>
      <vt:lpstr>Technology Stack</vt:lpstr>
      <vt:lpstr>PowerPoint Presentation</vt:lpstr>
      <vt:lpstr>Implementation Feasibility &amp; Scalability</vt:lpstr>
      <vt:lpstr>Solution Components (For Next Round Demo)</vt:lpstr>
      <vt:lpstr>Working Prototype Screenshots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FLARANCE RANI NANDIGAMA</dc:creator>
  <cp:lastModifiedBy>FLARANCE RANI NANDIGAMA</cp:lastModifiedBy>
  <cp:revision>1</cp:revision>
  <dcterms:created xsi:type="dcterms:W3CDTF">2025-12-10T13:27:42Z</dcterms:created>
  <dcterms:modified xsi:type="dcterms:W3CDTF">2026-02-09T16:30:29Z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